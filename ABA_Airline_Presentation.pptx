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name is Mohamed, and today I will be presenting my project for DSAI 4103. The project is about building a machine learning model that predicts whether an airline is active or inactive. I worked with a dataset that includes over 6,000 airlines, nearly 8,000 airports, and more than 67,000 flight routes. Let me walk you through what I did, how I built the model, and what the results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the business problem? In simple terms – airlines come and go. Some shut down, some merge, some are seasonal. But aviation databases still list them all. The question is: can we automatically predict which airlines are currently active based on their route data and identifiers?
This is important because airlines, airports, regulators, and investors all need accurate data. Our goal is to build a model that can answer this question reliably, explain why it made a decision, and present everything clearly in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tell you about the dataset I used. The data comes from OpenFlights.org and I downloaded it through Kaggle. It has three files: the Airlines file with over 6,000 airlines, the Airports file with nearly 8,000 airports, and the Routes file with over 67,000 flight routes. Together these files have more than 28 columns, which is well above the 15-column requirement. I joined them using airline IATA codes to create one rich dataset for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could build a model, I had to clean and prepare the data. I replaced placeholder values like backslash-N with proper nulls, removed duplicate records, and standardized country names. Then I merged all three files together using IATA codes.
The most important part was feature engineering. I couldn't just use raw data, so I created 15 meaningful features. For example, I counted how many routes each airline operates, how many unique airports they serve, and whether they have standard identifiers. I also added a country-level feature that shows how many airlines in the same country are active, which gives the model geographic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exploratory data analysis, I looked at the data from multiple angles. First, I checked the class balance. The dataset is quite imbalanced – only about 20% of airlines are active, while 80% are inactive. This is important because it affects how we train and evaluate the model.
I also looked at which countries have the most airlines. The United States leads by a large margin, followed by Russia and Germany. When I checked the top 10 airlines by routes, carriers like Southwest and Ryanair dominate.
Finally, the correlation heatmap showed me which features are most related to each other and to the target, helping me choose the right features for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exploring the data, I found several important insights. First, the class imbalance – 79.7% of airlines are inactive. This told me I need to be careful with accuracy as a metric because even a naive model could score 80% just by predicting inactive every time.
Second, route data is the strongest signal. If an airline has zero routes, it's almost certainly not active. The IATA code presence was also a very strong indicator.
I also noticed that country context matters. In high-activity countries like the US, airlines are more likely to be active. And finally, no single feature is perfect on its own – the best results come from combining everything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talk about the model. I used an ensemble classifier that combines six different models using soft voting. Specifically: three Random Forest models, two Gradient Boosting models, and one Logistic Regression model.
Why an ensemble? Because individual models each have weaknesses. By combining their probability outputs and averaging them, we get a more balanced and accurate result. Soft voting means each model says 'I think this airline is 70% likely to be active', and we average those probabilities across all six models before deciding.
I also handled the class imbalance by using the balanced class_weight option, which tells the model to pay more attention to the smaller Active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results. The model achieved a ROC-AUC of 0.92, which is excellent. This means the model is very good at separating active airlines from inactive ones. The accuracy is 87.6%, meaning it gets roughly 88 out of 100 predictions correct.
The recall of 85.7% is particularly important in our context. It means the model catches 86% of all truly active airlines. The F1 score of 0.74 balances precision and recall together.
This chart is taken directly from the Power BI dashboard and shows the five key metrics as horizontal green bars — matching what stakeholders see in the live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important aspects of my model are explainability and fairness. For explainability, I used SHAP – which stands for SHapley Additive exPlanations. SHAP tells us how much each feature contributes to a specific prediction.
The SHAP bar chart shows which features have the biggest impact overall. Total routes and has_routes are the top contributors. The summary plot shows the direction – having more routes pushes the prediction towards Active, while missing an IATA code pushes it towards Inactive.
For bias analysis, I checked whether the model performs fairly across different country groups. The results were generally consistent. The only area where recall dropped was for very small countries with very few airlines – simply because there wasn't enough data to learn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 BI dashboard brings everything together for non-technical stakeholders. At the top, there are four KPI cards: total airlines at 6,161, active airlines at 1,254, global active rate at 20.35%, and total routes at 67,663.
Below that, I have three visualizations. A pie chart showing the active vs inactive split, a bar chart comparing airline counts across top countries, and a map visualization that shows global airline activity – where the bubble size represents total routes and the color shows the active rate.
The dashboard also includes interactive filters and slicers so users can explore specific countries, activity statuses, or time periods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Drawing from both the data analysis and the model results, here are the six most important business insights.
First, only 20% of registered airlines are actually active – this is a big data quality issue for the industry. Second, routes are the clearest signal of activity. Third, the US dominates aviation globally.
Fourth, small airlines with fewer than 10 routes are high risk and more likely to shut down. Fifth, having proper IATA, ICAO, and callsign identifiers signals credibility and activity. And sixth, our model and scoring script are ready for deployment right now – anyone can run predictions on new data with a single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everything I found, here are my six recommendations. The top two are high priority. Aviation data teams should automate the status monitoring process – deploy our scoring script on a schedule so it runs automatically. And database teams should clean out the inactive records which make up 80% of the data.
Two medium-priority recommendations: monitor small airlines with under 10 routes as early warning of potential closures, and enforce identifier standards during registration.
Finally, two lower-priority but forward-looking suggestions: expand the feature set with financial data to push performance even further, and connect the Power BI dashboard to live data feeds for real-time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 in this project I built a complete end-to-end business analytics pipeline. I started with three raw datasets, cleaned and merged them, and engineered 15 meaningful features. I then trained an ensemble model using soft voting that achieved an ROC-AUC of 0.92 and 87.6% accuracy.
I used SHAP to explain the model's decisions and conducted a bias analysis to ensure fairness across different airline groups. The whole thing is visualized in a Power BI dashboard that makes the findings accessible to anyone.
The model and scoring script are also packaged and ready to run on new data today. Thank you for listening – I'm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0916C"/>
          </a:solidFill>
          <a:ln w="12700">
            <a:solidFill>
              <a:srgbClr val="40916C"/>
            </a:solidFill>
            <a:prstDash val="solid"/>
          </a:ln>
        </p:spPr>
      </p:sp>
      <p:sp>
        <p:nvSpPr>
          <p:cNvPr id="3" name="Shape 1"/>
          <p:cNvSpPr/>
          <p:nvPr/>
        </p:nvSpPr>
        <p:spPr>
          <a:xfrm>
            <a:off x="5943600" y="109728"/>
            <a:ext cx="3200400" cy="5029200"/>
          </a:xfrm>
          <a:prstGeom prst="rect">
            <a:avLst/>
          </a:prstGeom>
          <a:solidFill>
            <a:srgbClr val="0D2B1F"/>
          </a:solidFill>
          <a:ln w="12700">
            <a:solidFill>
              <a:srgbClr val="0D2B1F"/>
            </a:solidFill>
            <a:prstDash val="solid"/>
          </a:ln>
        </p:spPr>
      </p:sp>
      <p:sp>
        <p:nvSpPr>
          <p:cNvPr id="4" name="Shape 2"/>
          <p:cNvSpPr/>
          <p:nvPr/>
        </p:nvSpPr>
        <p:spPr>
          <a:xfrm>
            <a:off x="5943600" y="109728"/>
            <a:ext cx="64008" cy="5029200"/>
          </a:xfrm>
          <a:prstGeom prst="rect">
            <a:avLst/>
          </a:prstGeom>
          <a:solidFill>
            <a:srgbClr val="D4A017"/>
          </a:solidFill>
          <a:ln w="12700">
            <a:solidFill>
              <a:srgbClr val="D4A017"/>
            </a:solidFill>
            <a:prstDash val="solid"/>
          </a:ln>
        </p:spPr>
      </p:sp>
      <p:sp>
        <p:nvSpPr>
          <p:cNvPr id="5" name="Shape 3"/>
          <p:cNvSpPr/>
          <p:nvPr/>
        </p:nvSpPr>
        <p:spPr>
          <a:xfrm>
            <a:off x="6583680" y="640080"/>
            <a:ext cx="2103120" cy="2103120"/>
          </a:xfrm>
          <a:prstGeom prst="ellipse">
            <a:avLst/>
          </a:prstGeom>
          <a:solidFill>
            <a:srgbClr val="0D3B1E"/>
          </a:solidFill>
          <a:ln w="25400">
            <a:solidFill>
              <a:srgbClr val="1A5C32"/>
            </a:solidFill>
            <a:prstDash val="solid"/>
          </a:ln>
        </p:spPr>
      </p:sp>
      <p:sp>
        <p:nvSpPr>
          <p:cNvPr id="6" name="Shape 4"/>
          <p:cNvSpPr/>
          <p:nvPr/>
        </p:nvSpPr>
        <p:spPr>
          <a:xfrm>
            <a:off x="7040880" y="1097280"/>
            <a:ext cx="1188720" cy="1188720"/>
          </a:xfrm>
          <a:prstGeom prst="ellipse">
            <a:avLst/>
          </a:prstGeom>
          <a:solidFill>
            <a:srgbClr val="1E88E5"/>
          </a:solidFill>
          <a:ln w="12700">
            <a:solidFill>
              <a:srgbClr val="1E88E5"/>
            </a:solidFill>
            <a:prstDash val="solid"/>
          </a:ln>
        </p:spPr>
      </p:sp>
      <p:sp>
        <p:nvSpPr>
          <p:cNvPr id="7" name="Shape 5"/>
          <p:cNvSpPr/>
          <p:nvPr/>
        </p:nvSpPr>
        <p:spPr>
          <a:xfrm>
            <a:off x="6492240" y="3017520"/>
            <a:ext cx="1463040" cy="1463040"/>
          </a:xfrm>
          <a:prstGeom prst="ellipse">
            <a:avLst/>
          </a:prstGeom>
          <a:solidFill>
            <a:srgbClr val="F59E0B"/>
          </a:solidFill>
          <a:ln w="12700">
            <a:solidFill>
              <a:srgbClr val="F59E0B"/>
            </a:solidFill>
            <a:prstDash val="solid"/>
          </a:ln>
        </p:spPr>
      </p:sp>
      <p:sp>
        <p:nvSpPr>
          <p:cNvPr id="8" name="Shape 6"/>
          <p:cNvSpPr/>
          <p:nvPr/>
        </p:nvSpPr>
        <p:spPr>
          <a:xfrm>
            <a:off x="7589520" y="3291840"/>
            <a:ext cx="822960" cy="822960"/>
          </a:xfrm>
          <a:prstGeom prst="ellipse">
            <a:avLst/>
          </a:prstGeom>
          <a:solidFill>
            <a:srgbClr val="0D1F3C"/>
          </a:solidFill>
          <a:ln w="19050">
            <a:solidFill>
              <a:srgbClr val="1A5C32"/>
            </a:solidFill>
            <a:prstDash val="solid"/>
          </a:ln>
        </p:spPr>
      </p:sp>
      <p:sp>
        <p:nvSpPr>
          <p:cNvPr id="9" name="Text 7"/>
          <p:cNvSpPr/>
          <p:nvPr/>
        </p:nvSpPr>
        <p:spPr>
          <a:xfrm>
            <a:off x="457200" y="960120"/>
            <a:ext cx="5212080" cy="292608"/>
          </a:xfrm>
          <a:prstGeom prst="rect">
            <a:avLst/>
          </a:prstGeom>
          <a:noFill/>
          <a:ln/>
        </p:spPr>
        <p:txBody>
          <a:bodyPr wrap="square" lIns="0" tIns="0" rIns="0" bIns="0" rtlCol="0" anchor="ctr"/>
          <a:lstStyle/>
          <a:p>
            <a:pPr indent="0" marL="0">
              <a:buNone/>
            </a:pPr>
            <a:r>
              <a:rPr lang="en-US" sz="1050" b="1" spc="300" kern="0" dirty="0">
                <a:solidFill>
                  <a:srgbClr val="D4A017"/>
                </a:solidFill>
                <a:latin typeface="Calibri" pitchFamily="34" charset="0"/>
                <a:ea typeface="Calibri" pitchFamily="34" charset="-122"/>
                <a:cs typeface="Calibri" pitchFamily="34" charset="-120"/>
              </a:rPr>
              <a:t>DSAI 4103  ·  Business Analytics</a:t>
            </a:r>
            <a:endParaRPr lang="en-US" sz="1050" dirty="0"/>
          </a:p>
        </p:txBody>
      </p:sp>
      <p:sp>
        <p:nvSpPr>
          <p:cNvPr id="10" name="Text 8"/>
          <p:cNvSpPr/>
          <p:nvPr/>
        </p:nvSpPr>
        <p:spPr>
          <a:xfrm>
            <a:off x="457200" y="1325880"/>
            <a:ext cx="5212080" cy="169164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Airline Activity</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Prediction</a:t>
            </a:r>
            <a:endParaRPr lang="en-US" sz="4000" dirty="0"/>
          </a:p>
        </p:txBody>
      </p:sp>
      <p:sp>
        <p:nvSpPr>
          <p:cNvPr id="11" name="Text 9"/>
          <p:cNvSpPr/>
          <p:nvPr/>
        </p:nvSpPr>
        <p:spPr>
          <a:xfrm>
            <a:off x="457200" y="3063240"/>
            <a:ext cx="5212080" cy="658368"/>
          </a:xfrm>
          <a:prstGeom prst="rect">
            <a:avLst/>
          </a:prstGeom>
          <a:noFill/>
          <a:ln/>
        </p:spPr>
        <p:txBody>
          <a:bodyPr wrap="square" lIns="0" tIns="0" rIns="0" bIns="0" rtlCol="0" anchor="t"/>
          <a:lstStyle/>
          <a:p>
            <a:pPr indent="0" marL="0">
              <a:buNone/>
            </a:pPr>
            <a:r>
              <a:rPr lang="en-US" sz="1400" dirty="0">
                <a:solidFill>
                  <a:srgbClr val="95D5B2"/>
                </a:solidFill>
                <a:latin typeface="Calibri" pitchFamily="34" charset="0"/>
                <a:ea typeface="Calibri" pitchFamily="34" charset="-122"/>
                <a:cs typeface="Calibri" pitchFamily="34" charset="-120"/>
              </a:rPr>
              <a:t>An End-to-End Machine Learning Pipeline</a:t>
            </a:r>
            <a:endParaRPr lang="en-US" sz="1400" dirty="0"/>
          </a:p>
          <a:p>
            <a:pPr indent="0" marL="0">
              <a:buNone/>
            </a:pPr>
            <a:r>
              <a:rPr lang="en-US" sz="1400" dirty="0">
                <a:solidFill>
                  <a:srgbClr val="95D5B2"/>
                </a:solidFill>
                <a:latin typeface="Calibri" pitchFamily="34" charset="0"/>
                <a:ea typeface="Calibri" pitchFamily="34" charset="-122"/>
                <a:cs typeface="Calibri" pitchFamily="34" charset="-120"/>
              </a:rPr>
              <a:t>for Predicting Airline Active Status</a:t>
            </a:r>
            <a:endParaRPr lang="en-US" sz="1400" dirty="0"/>
          </a:p>
        </p:txBody>
      </p:sp>
      <p:sp>
        <p:nvSpPr>
          <p:cNvPr id="12" name="Shape 10"/>
          <p:cNvSpPr/>
          <p:nvPr/>
        </p:nvSpPr>
        <p:spPr>
          <a:xfrm>
            <a:off x="457200" y="3794760"/>
            <a:ext cx="5029200" cy="36576"/>
          </a:xfrm>
          <a:prstGeom prst="rect">
            <a:avLst/>
          </a:prstGeom>
          <a:solidFill>
            <a:srgbClr val="1A5C32"/>
          </a:solidFill>
          <a:ln w="12700">
            <a:solidFill>
              <a:srgbClr val="1A5C32"/>
            </a:solidFill>
            <a:prstDash val="solid"/>
          </a:ln>
        </p:spPr>
      </p:sp>
      <p:sp>
        <p:nvSpPr>
          <p:cNvPr id="13" name="Text 11"/>
          <p:cNvSpPr/>
          <p:nvPr/>
        </p:nvSpPr>
        <p:spPr>
          <a:xfrm>
            <a:off x="457200" y="3886200"/>
            <a:ext cx="1463040" cy="402336"/>
          </a:xfrm>
          <a:prstGeom prst="rect">
            <a:avLst/>
          </a:prstGeom>
          <a:noFill/>
          <a:ln/>
        </p:spPr>
        <p:txBody>
          <a:bodyPr wrap="square" lIns="0" tIns="0" rIns="0" bIns="0" rtlCol="0" anchor="ctr"/>
          <a:lstStyle/>
          <a:p>
            <a:pPr algn="ctr" indent="0" marL="0">
              <a:buNone/>
            </a:pPr>
            <a:r>
              <a:rPr lang="en-US" sz="1800" b="1" dirty="0">
                <a:solidFill>
                  <a:srgbClr val="40916C"/>
                </a:solidFill>
                <a:latin typeface="Calibri" pitchFamily="34" charset="0"/>
                <a:ea typeface="Calibri" pitchFamily="34" charset="-122"/>
                <a:cs typeface="Calibri" pitchFamily="34" charset="-120"/>
              </a:rPr>
              <a:t>6,161</a:t>
            </a:r>
            <a:endParaRPr lang="en-US" sz="1800" dirty="0"/>
          </a:p>
        </p:txBody>
      </p:sp>
      <p:sp>
        <p:nvSpPr>
          <p:cNvPr id="14" name="Text 12"/>
          <p:cNvSpPr/>
          <p:nvPr/>
        </p:nvSpPr>
        <p:spPr>
          <a:xfrm>
            <a:off x="457200" y="4279392"/>
            <a:ext cx="1463040" cy="228600"/>
          </a:xfrm>
          <a:prstGeom prst="rect">
            <a:avLst/>
          </a:prstGeom>
          <a:noFill/>
          <a:ln/>
        </p:spPr>
        <p:txBody>
          <a:bodyPr wrap="square" lIns="0" tIns="0" rIns="0" bIns="0" rtlCol="0" anchor="ctr"/>
          <a:lstStyle/>
          <a:p>
            <a:pPr algn="ctr" indent="0" marL="0">
              <a:buNone/>
            </a:pPr>
            <a:r>
              <a:rPr lang="en-US" sz="950" dirty="0">
                <a:solidFill>
                  <a:srgbClr val="95D5B2"/>
                </a:solidFill>
                <a:latin typeface="Calibri" pitchFamily="34" charset="0"/>
                <a:ea typeface="Calibri" pitchFamily="34" charset="-122"/>
                <a:cs typeface="Calibri" pitchFamily="34" charset="-120"/>
              </a:rPr>
              <a:t>Airlines</a:t>
            </a:r>
            <a:endParaRPr lang="en-US" sz="950" dirty="0"/>
          </a:p>
        </p:txBody>
      </p:sp>
      <p:sp>
        <p:nvSpPr>
          <p:cNvPr id="15" name="Text 13"/>
          <p:cNvSpPr/>
          <p:nvPr/>
        </p:nvSpPr>
        <p:spPr>
          <a:xfrm>
            <a:off x="2148840" y="3886200"/>
            <a:ext cx="1463040" cy="402336"/>
          </a:xfrm>
          <a:prstGeom prst="rect">
            <a:avLst/>
          </a:prstGeom>
          <a:noFill/>
          <a:ln/>
        </p:spPr>
        <p:txBody>
          <a:bodyPr wrap="square" lIns="0" tIns="0" rIns="0" bIns="0" rtlCol="0" anchor="ctr"/>
          <a:lstStyle/>
          <a:p>
            <a:pPr algn="ctr" indent="0" marL="0">
              <a:buNone/>
            </a:pPr>
            <a:r>
              <a:rPr lang="en-US" sz="1800" b="1" dirty="0">
                <a:solidFill>
                  <a:srgbClr val="40916C"/>
                </a:solidFill>
                <a:latin typeface="Calibri" pitchFamily="34" charset="0"/>
                <a:ea typeface="Calibri" pitchFamily="34" charset="-122"/>
                <a:cs typeface="Calibri" pitchFamily="34" charset="-120"/>
              </a:rPr>
              <a:t>7,698</a:t>
            </a:r>
            <a:endParaRPr lang="en-US" sz="1800" dirty="0"/>
          </a:p>
        </p:txBody>
      </p:sp>
      <p:sp>
        <p:nvSpPr>
          <p:cNvPr id="16" name="Text 14"/>
          <p:cNvSpPr/>
          <p:nvPr/>
        </p:nvSpPr>
        <p:spPr>
          <a:xfrm>
            <a:off x="2148840" y="4279392"/>
            <a:ext cx="1463040" cy="228600"/>
          </a:xfrm>
          <a:prstGeom prst="rect">
            <a:avLst/>
          </a:prstGeom>
          <a:noFill/>
          <a:ln/>
        </p:spPr>
        <p:txBody>
          <a:bodyPr wrap="square" lIns="0" tIns="0" rIns="0" bIns="0" rtlCol="0" anchor="ctr"/>
          <a:lstStyle/>
          <a:p>
            <a:pPr algn="ctr" indent="0" marL="0">
              <a:buNone/>
            </a:pPr>
            <a:r>
              <a:rPr lang="en-US" sz="950" dirty="0">
                <a:solidFill>
                  <a:srgbClr val="95D5B2"/>
                </a:solidFill>
                <a:latin typeface="Calibri" pitchFamily="34" charset="0"/>
                <a:ea typeface="Calibri" pitchFamily="34" charset="-122"/>
                <a:cs typeface="Calibri" pitchFamily="34" charset="-120"/>
              </a:rPr>
              <a:t>Airports</a:t>
            </a:r>
            <a:endParaRPr lang="en-US" sz="950" dirty="0"/>
          </a:p>
        </p:txBody>
      </p:sp>
      <p:sp>
        <p:nvSpPr>
          <p:cNvPr id="17" name="Text 15"/>
          <p:cNvSpPr/>
          <p:nvPr/>
        </p:nvSpPr>
        <p:spPr>
          <a:xfrm>
            <a:off x="3840480" y="3886200"/>
            <a:ext cx="1463040" cy="402336"/>
          </a:xfrm>
          <a:prstGeom prst="rect">
            <a:avLst/>
          </a:prstGeom>
          <a:noFill/>
          <a:ln/>
        </p:spPr>
        <p:txBody>
          <a:bodyPr wrap="square" lIns="0" tIns="0" rIns="0" bIns="0" rtlCol="0" anchor="ctr"/>
          <a:lstStyle/>
          <a:p>
            <a:pPr algn="ctr" indent="0" marL="0">
              <a:buNone/>
            </a:pPr>
            <a:r>
              <a:rPr lang="en-US" sz="1800" b="1" dirty="0">
                <a:solidFill>
                  <a:srgbClr val="40916C"/>
                </a:solidFill>
                <a:latin typeface="Calibri" pitchFamily="34" charset="0"/>
                <a:ea typeface="Calibri" pitchFamily="34" charset="-122"/>
                <a:cs typeface="Calibri" pitchFamily="34" charset="-120"/>
              </a:rPr>
              <a:t>67,663</a:t>
            </a:r>
            <a:endParaRPr lang="en-US" sz="1800" dirty="0"/>
          </a:p>
        </p:txBody>
      </p:sp>
      <p:sp>
        <p:nvSpPr>
          <p:cNvPr id="18" name="Text 16"/>
          <p:cNvSpPr/>
          <p:nvPr/>
        </p:nvSpPr>
        <p:spPr>
          <a:xfrm>
            <a:off x="3840480" y="4279392"/>
            <a:ext cx="1463040" cy="228600"/>
          </a:xfrm>
          <a:prstGeom prst="rect">
            <a:avLst/>
          </a:prstGeom>
          <a:noFill/>
          <a:ln/>
        </p:spPr>
        <p:txBody>
          <a:bodyPr wrap="square" lIns="0" tIns="0" rIns="0" bIns="0" rtlCol="0" anchor="ctr"/>
          <a:lstStyle/>
          <a:p>
            <a:pPr algn="ctr" indent="0" marL="0">
              <a:buNone/>
            </a:pPr>
            <a:r>
              <a:rPr lang="en-US" sz="950" dirty="0">
                <a:solidFill>
                  <a:srgbClr val="95D5B2"/>
                </a:solidFill>
                <a:latin typeface="Calibri" pitchFamily="34" charset="0"/>
                <a:ea typeface="Calibri" pitchFamily="34" charset="-122"/>
                <a:cs typeface="Calibri" pitchFamily="34" charset="-120"/>
              </a:rPr>
              <a:t>Routes</a:t>
            </a:r>
            <a:endParaRPr lang="en-US" sz="950" dirty="0"/>
          </a:p>
        </p:txBody>
      </p:sp>
      <p:sp>
        <p:nvSpPr>
          <p:cNvPr id="19" name="Shape 17"/>
          <p:cNvSpPr/>
          <p:nvPr/>
        </p:nvSpPr>
        <p:spPr>
          <a:xfrm>
            <a:off x="0" y="4983480"/>
            <a:ext cx="9144000" cy="160020"/>
          </a:xfrm>
          <a:prstGeom prst="rect">
            <a:avLst/>
          </a:prstGeom>
          <a:solidFill>
            <a:srgbClr val="071A0F"/>
          </a:solidFill>
          <a:ln w="12700">
            <a:solidFill>
              <a:srgbClr val="071A0F"/>
            </a:solidFill>
            <a:prstDash val="solid"/>
          </a:ln>
        </p:spPr>
      </p:sp>
      <p:sp>
        <p:nvSpPr>
          <p:cNvPr id="20" name="Text 18"/>
          <p:cNvSpPr/>
          <p:nvPr/>
        </p:nvSpPr>
        <p:spPr>
          <a:xfrm>
            <a:off x="274320" y="4983480"/>
            <a:ext cx="8595360" cy="160020"/>
          </a:xfrm>
          <a:prstGeom prst="rect">
            <a:avLst/>
          </a:prstGeom>
          <a:noFill/>
          <a:ln/>
        </p:spPr>
        <p:txBody>
          <a:bodyPr wrap="square" lIns="0" tIns="0" rIns="0" bIns="0" rtlCol="0" anchor="ctr"/>
          <a:lstStyle/>
          <a:p>
            <a:pPr algn="r" indent="0" marL="0">
              <a:buNone/>
            </a:pPr>
            <a:r>
              <a:rPr lang="en-US" sz="850" dirty="0">
                <a:solidFill>
                  <a:srgbClr val="52B788"/>
                </a:solidFill>
                <a:latin typeface="Calibri" pitchFamily="34" charset="0"/>
                <a:ea typeface="Calibri" pitchFamily="34" charset="-122"/>
                <a:cs typeface="Calibri" pitchFamily="34" charset="-120"/>
              </a:rPr>
              <a:t>Winter 2026  ·  Student ID: 60105239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BF6"/>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4332"/>
          </a:solidFill>
          <a:ln w="12700">
            <a:solidFill>
              <a:srgbClr val="1B4332"/>
            </a:solidFill>
            <a:prstDash val="solid"/>
          </a:ln>
        </p:spPr>
      </p:sp>
      <p:sp>
        <p:nvSpPr>
          <p:cNvPr id="3" name="Shape 1"/>
          <p:cNvSpPr/>
          <p:nvPr/>
        </p:nvSpPr>
        <p:spPr>
          <a:xfrm>
            <a:off x="0" y="658368"/>
            <a:ext cx="9144000" cy="50292"/>
          </a:xfrm>
          <a:prstGeom prst="rect">
            <a:avLst/>
          </a:prstGeom>
          <a:solidFill>
            <a:srgbClr val="40916C"/>
          </a:solidFill>
          <a:ln w="12700">
            <a:solidFill>
              <a:srgbClr val="40916C"/>
            </a:solidFill>
            <a:prstDash val="solid"/>
          </a:ln>
        </p:spPr>
      </p:sp>
      <p:sp>
        <p:nvSpPr>
          <p:cNvPr id="4" name="Text 2"/>
          <p:cNvSpPr/>
          <p:nvPr/>
        </p:nvSpPr>
        <p:spPr>
          <a:xfrm>
            <a:off x="320040" y="64008"/>
            <a:ext cx="8503920" cy="53035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Business Problem</a:t>
            </a:r>
            <a:endParaRPr lang="en-US" sz="2200" dirty="0"/>
          </a:p>
        </p:txBody>
      </p:sp>
      <p:sp>
        <p:nvSpPr>
          <p:cNvPr id="5" name="Text 3"/>
          <p:cNvSpPr/>
          <p:nvPr/>
        </p:nvSpPr>
        <p:spPr>
          <a:xfrm>
            <a:off x="320040" y="64008"/>
            <a:ext cx="8503920" cy="530352"/>
          </a:xfrm>
          <a:prstGeom prst="rect">
            <a:avLst/>
          </a:prstGeom>
          <a:noFill/>
          <a:ln/>
        </p:spPr>
        <p:txBody>
          <a:bodyPr wrap="square" lIns="0" tIns="0" rIns="0" bIns="0" rtlCol="0" anchor="b"/>
          <a:lstStyle/>
          <a:p>
            <a:pPr algn="r" indent="0" marL="0">
              <a:buNone/>
            </a:pPr>
            <a:r>
              <a:rPr lang="en-US" sz="1100" dirty="0">
                <a:solidFill>
                  <a:srgbClr val="95D5B2"/>
                </a:solidFill>
                <a:latin typeface="Calibri" pitchFamily="34" charset="0"/>
                <a:ea typeface="Calibri" pitchFamily="34" charset="-122"/>
                <a:cs typeface="Calibri" pitchFamily="34" charset="-120"/>
              </a:rPr>
              <a:t>Why does this matter?</a:t>
            </a:r>
            <a:endParaRPr lang="en-US" sz="1100" dirty="0"/>
          </a:p>
        </p:txBody>
      </p:sp>
      <p:sp>
        <p:nvSpPr>
          <p:cNvPr id="6" name="Shape 4"/>
          <p:cNvSpPr/>
          <p:nvPr/>
        </p:nvSpPr>
        <p:spPr>
          <a:xfrm>
            <a:off x="0" y="4983480"/>
            <a:ext cx="9144000" cy="160020"/>
          </a:xfrm>
          <a:prstGeom prst="rect">
            <a:avLst/>
          </a:prstGeom>
          <a:solidFill>
            <a:srgbClr val="1B4332"/>
          </a:solidFill>
          <a:ln w="12700">
            <a:solidFill>
              <a:srgbClr val="1B4332"/>
            </a:solidFill>
            <a:prstDash val="solid"/>
          </a:ln>
        </p:spPr>
      </p:sp>
      <p:sp>
        <p:nvSpPr>
          <p:cNvPr id="7" name="Text 5"/>
          <p:cNvSpPr/>
          <p:nvPr/>
        </p:nvSpPr>
        <p:spPr>
          <a:xfrm>
            <a:off x="274320" y="4983480"/>
            <a:ext cx="8595360" cy="160020"/>
          </a:xfrm>
          <a:prstGeom prst="rect">
            <a:avLst/>
          </a:prstGeom>
          <a:noFill/>
          <a:ln/>
        </p:spPr>
        <p:txBody>
          <a:bodyPr wrap="square" lIns="0" tIns="0" rIns="0" bIns="0" rtlCol="0" anchor="ctr"/>
          <a:lstStyle/>
          <a:p>
            <a:pPr indent="0" marL="0">
              <a:buNone/>
            </a:pPr>
            <a:r>
              <a:rPr lang="en-US" sz="800" dirty="0">
                <a:solidFill>
                  <a:srgbClr val="74C69D"/>
                </a:solidFill>
                <a:latin typeface="Calibri" pitchFamily="34" charset="0"/>
                <a:ea typeface="Calibri" pitchFamily="34" charset="-122"/>
                <a:cs typeface="Calibri" pitchFamily="34" charset="-120"/>
              </a:rPr>
              <a:t>DSAI 4103 – Business Analytics  |  Airline Activity Prediction</a:t>
            </a:r>
            <a:endParaRPr lang="en-US" sz="800" dirty="0"/>
          </a:p>
        </p:txBody>
      </p:sp>
      <p:sp>
        <p:nvSpPr>
          <p:cNvPr id="8" name="Shape 6"/>
          <p:cNvSpPr/>
          <p:nvPr/>
        </p:nvSpPr>
        <p:spPr>
          <a:xfrm>
            <a:off x="320040" y="822960"/>
            <a:ext cx="4114800" cy="402336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320040" y="822960"/>
            <a:ext cx="64008" cy="4023360"/>
          </a:xfrm>
          <a:prstGeom prst="rect">
            <a:avLst/>
          </a:prstGeom>
          <a:solidFill>
            <a:srgbClr val="40916C"/>
          </a:solidFill>
          <a:ln w="12700">
            <a:solidFill>
              <a:srgbClr val="40916C"/>
            </a:solidFill>
            <a:prstDash val="solid"/>
          </a:ln>
        </p:spPr>
      </p:sp>
      <p:sp>
        <p:nvSpPr>
          <p:cNvPr id="10" name="Text 8"/>
          <p:cNvSpPr/>
          <p:nvPr/>
        </p:nvSpPr>
        <p:spPr>
          <a:xfrm>
            <a:off x="502920" y="868680"/>
            <a:ext cx="3749040" cy="347472"/>
          </a:xfrm>
          <a:prstGeom prst="rect">
            <a:avLst/>
          </a:prstGeom>
          <a:noFill/>
          <a:ln/>
        </p:spPr>
        <p:txBody>
          <a:bodyPr wrap="square" lIns="0" tIns="0" rIns="0" bIns="0" rtlCol="0" anchor="ctr"/>
          <a:lstStyle/>
          <a:p>
            <a:pPr indent="0" marL="0">
              <a:buNone/>
            </a:pPr>
            <a:r>
              <a:rPr lang="en-US" sz="1400" b="1" dirty="0">
                <a:solidFill>
                  <a:srgbClr val="1B4332"/>
                </a:solidFill>
                <a:latin typeface="Calibri" pitchFamily="34" charset="0"/>
                <a:ea typeface="Calibri" pitchFamily="34" charset="-122"/>
                <a:cs typeface="Calibri" pitchFamily="34" charset="-120"/>
              </a:rPr>
              <a:t>The Problem</a:t>
            </a:r>
            <a:endParaRPr lang="en-US" sz="1400" dirty="0"/>
          </a:p>
        </p:txBody>
      </p:sp>
      <p:sp>
        <p:nvSpPr>
          <p:cNvPr id="11" name="Text 9"/>
          <p:cNvSpPr/>
          <p:nvPr/>
        </p:nvSpPr>
        <p:spPr>
          <a:xfrm>
            <a:off x="502920" y="1261872"/>
            <a:ext cx="3794760" cy="3474720"/>
          </a:xfrm>
          <a:prstGeom prst="rect">
            <a:avLst/>
          </a:prstGeom>
          <a:noFill/>
          <a:ln/>
        </p:spPr>
        <p:txBody>
          <a:bodyPr wrap="square" lIns="0" tIns="0" rIns="0" bIns="0" rtlCol="0" anchor="t"/>
          <a:lstStyle/>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The global aviation industry tracks thousands of airlines, but many are no longer operating. There is no reliable automated way to know which airlines are still active.</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 </a:t>
            </a:r>
            <a:endParaRPr lang="en-US" sz="1300" dirty="0"/>
          </a:p>
          <a:p>
            <a:pPr indent="0" marL="0">
              <a:spcAft>
                <a:spcPts val="400"/>
              </a:spcAft>
              <a:buNone/>
            </a:pPr>
            <a:r>
              <a:rPr lang="en-US" sz="1300" dirty="0">
                <a:solidFill>
                  <a:srgbClr val="1E293B"/>
                </a:solidFill>
                <a:latin typeface="Calibri" pitchFamily="34" charset="0"/>
                <a:ea typeface="Calibri" pitchFamily="34" charset="-122"/>
                <a:cs typeface="Calibri" pitchFamily="34" charset="-120"/>
              </a:rPr>
              <a:t>This creates real problems for:</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Airlines trying to plan partnerships</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Airports managing gate allocations</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Regulators tracking industry health</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Investors evaluating market players</a:t>
            </a:r>
            <a:endParaRPr lang="en-US" sz="1300" dirty="0"/>
          </a:p>
        </p:txBody>
      </p:sp>
      <p:sp>
        <p:nvSpPr>
          <p:cNvPr id="12" name="Shape 10"/>
          <p:cNvSpPr/>
          <p:nvPr/>
        </p:nvSpPr>
        <p:spPr>
          <a:xfrm>
            <a:off x="4709160" y="822960"/>
            <a:ext cx="4114800" cy="86868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13" name="Shape 11"/>
          <p:cNvSpPr/>
          <p:nvPr/>
        </p:nvSpPr>
        <p:spPr>
          <a:xfrm>
            <a:off x="4709160" y="822960"/>
            <a:ext cx="475488" cy="868680"/>
          </a:xfrm>
          <a:prstGeom prst="rect">
            <a:avLst/>
          </a:prstGeom>
          <a:solidFill>
            <a:srgbClr val="40916C"/>
          </a:solidFill>
          <a:ln w="12700">
            <a:solidFill>
              <a:srgbClr val="40916C"/>
            </a:solidFill>
            <a:prstDash val="solid"/>
          </a:ln>
        </p:spPr>
      </p:sp>
      <p:sp>
        <p:nvSpPr>
          <p:cNvPr id="14" name="Text 12"/>
          <p:cNvSpPr/>
          <p:nvPr/>
        </p:nvSpPr>
        <p:spPr>
          <a:xfrm>
            <a:off x="4709160" y="822960"/>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5" name="Text 13"/>
          <p:cNvSpPr/>
          <p:nvPr/>
        </p:nvSpPr>
        <p:spPr>
          <a:xfrm>
            <a:off x="5257800" y="886968"/>
            <a:ext cx="3474720" cy="274320"/>
          </a:xfrm>
          <a:prstGeom prst="rect">
            <a:avLst/>
          </a:prstGeom>
          <a:noFill/>
          <a:ln/>
        </p:spPr>
        <p:txBody>
          <a:bodyPr wrap="square" lIns="0" tIns="0" rIns="0" bIns="0" rtlCol="0" anchor="t"/>
          <a:lstStyle/>
          <a:p>
            <a:pPr indent="0" marL="0">
              <a:buNone/>
            </a:pPr>
            <a:r>
              <a:rPr lang="en-US" sz="1200" b="1" dirty="0">
                <a:solidFill>
                  <a:srgbClr val="1B4332"/>
                </a:solidFill>
                <a:latin typeface="Calibri" pitchFamily="34" charset="0"/>
                <a:ea typeface="Calibri" pitchFamily="34" charset="-122"/>
                <a:cs typeface="Calibri" pitchFamily="34" charset="-120"/>
              </a:rPr>
              <a:t>Identify Active Airlines</a:t>
            </a:r>
            <a:endParaRPr lang="en-US" sz="1200" dirty="0"/>
          </a:p>
        </p:txBody>
      </p:sp>
      <p:sp>
        <p:nvSpPr>
          <p:cNvPr id="16" name="Text 14"/>
          <p:cNvSpPr/>
          <p:nvPr/>
        </p:nvSpPr>
        <p:spPr>
          <a:xfrm>
            <a:off x="5257800" y="1170432"/>
            <a:ext cx="3474720" cy="45720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Use historical route and identifier data to determine which airlines are still flying.</a:t>
            </a:r>
            <a:endParaRPr lang="en-US" sz="1050" dirty="0"/>
          </a:p>
        </p:txBody>
      </p:sp>
      <p:sp>
        <p:nvSpPr>
          <p:cNvPr id="17" name="Shape 15"/>
          <p:cNvSpPr/>
          <p:nvPr/>
        </p:nvSpPr>
        <p:spPr>
          <a:xfrm>
            <a:off x="4709160" y="1801368"/>
            <a:ext cx="4114800" cy="86868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18" name="Shape 16"/>
          <p:cNvSpPr/>
          <p:nvPr/>
        </p:nvSpPr>
        <p:spPr>
          <a:xfrm>
            <a:off x="4709160" y="1801368"/>
            <a:ext cx="475488" cy="868680"/>
          </a:xfrm>
          <a:prstGeom prst="rect">
            <a:avLst/>
          </a:prstGeom>
          <a:solidFill>
            <a:srgbClr val="40916C"/>
          </a:solidFill>
          <a:ln w="12700">
            <a:solidFill>
              <a:srgbClr val="40916C"/>
            </a:solidFill>
            <a:prstDash val="solid"/>
          </a:ln>
        </p:spPr>
      </p:sp>
      <p:sp>
        <p:nvSpPr>
          <p:cNvPr id="19" name="Text 17"/>
          <p:cNvSpPr/>
          <p:nvPr/>
        </p:nvSpPr>
        <p:spPr>
          <a:xfrm>
            <a:off x="4709160" y="1801368"/>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20" name="Text 18"/>
          <p:cNvSpPr/>
          <p:nvPr/>
        </p:nvSpPr>
        <p:spPr>
          <a:xfrm>
            <a:off x="5257800" y="1865376"/>
            <a:ext cx="3474720" cy="274320"/>
          </a:xfrm>
          <a:prstGeom prst="rect">
            <a:avLst/>
          </a:prstGeom>
          <a:noFill/>
          <a:ln/>
        </p:spPr>
        <p:txBody>
          <a:bodyPr wrap="square" lIns="0" tIns="0" rIns="0" bIns="0" rtlCol="0" anchor="t"/>
          <a:lstStyle/>
          <a:p>
            <a:pPr indent="0" marL="0">
              <a:buNone/>
            </a:pPr>
            <a:r>
              <a:rPr lang="en-US" sz="1200" b="1" dirty="0">
                <a:solidFill>
                  <a:srgbClr val="1B4332"/>
                </a:solidFill>
                <a:latin typeface="Calibri" pitchFamily="34" charset="0"/>
                <a:ea typeface="Calibri" pitchFamily="34" charset="-122"/>
                <a:cs typeface="Calibri" pitchFamily="34" charset="-120"/>
              </a:rPr>
              <a:t>Build a Predictive Model</a:t>
            </a:r>
            <a:endParaRPr lang="en-US" sz="1200" dirty="0"/>
          </a:p>
        </p:txBody>
      </p:sp>
      <p:sp>
        <p:nvSpPr>
          <p:cNvPr id="21" name="Text 19"/>
          <p:cNvSpPr/>
          <p:nvPr/>
        </p:nvSpPr>
        <p:spPr>
          <a:xfrm>
            <a:off x="5257800" y="2148840"/>
            <a:ext cx="3474720" cy="45720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Train a machine learning classifier to automate the prediction process.</a:t>
            </a:r>
            <a:endParaRPr lang="en-US" sz="1050" dirty="0"/>
          </a:p>
        </p:txBody>
      </p:sp>
      <p:sp>
        <p:nvSpPr>
          <p:cNvPr id="22" name="Shape 20"/>
          <p:cNvSpPr/>
          <p:nvPr/>
        </p:nvSpPr>
        <p:spPr>
          <a:xfrm>
            <a:off x="4709160" y="2779776"/>
            <a:ext cx="4114800" cy="86868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4709160" y="2779776"/>
            <a:ext cx="475488" cy="868680"/>
          </a:xfrm>
          <a:prstGeom prst="rect">
            <a:avLst/>
          </a:prstGeom>
          <a:solidFill>
            <a:srgbClr val="40916C"/>
          </a:solidFill>
          <a:ln w="12700">
            <a:solidFill>
              <a:srgbClr val="40916C"/>
            </a:solidFill>
            <a:prstDash val="solid"/>
          </a:ln>
        </p:spPr>
      </p:sp>
      <p:sp>
        <p:nvSpPr>
          <p:cNvPr id="24" name="Text 22"/>
          <p:cNvSpPr/>
          <p:nvPr/>
        </p:nvSpPr>
        <p:spPr>
          <a:xfrm>
            <a:off x="4709160" y="2779776"/>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5" name="Text 23"/>
          <p:cNvSpPr/>
          <p:nvPr/>
        </p:nvSpPr>
        <p:spPr>
          <a:xfrm>
            <a:off x="5257800" y="2843784"/>
            <a:ext cx="3474720" cy="274320"/>
          </a:xfrm>
          <a:prstGeom prst="rect">
            <a:avLst/>
          </a:prstGeom>
          <a:noFill/>
          <a:ln/>
        </p:spPr>
        <p:txBody>
          <a:bodyPr wrap="square" lIns="0" tIns="0" rIns="0" bIns="0" rtlCol="0" anchor="t"/>
          <a:lstStyle/>
          <a:p>
            <a:pPr indent="0" marL="0">
              <a:buNone/>
            </a:pPr>
            <a:r>
              <a:rPr lang="en-US" sz="1200" b="1" dirty="0">
                <a:solidFill>
                  <a:srgbClr val="1B4332"/>
                </a:solidFill>
                <a:latin typeface="Calibri" pitchFamily="34" charset="0"/>
                <a:ea typeface="Calibri" pitchFamily="34" charset="-122"/>
                <a:cs typeface="Calibri" pitchFamily="34" charset="-120"/>
              </a:rPr>
              <a:t>Explain the Model</a:t>
            </a:r>
            <a:endParaRPr lang="en-US" sz="1200" dirty="0"/>
          </a:p>
        </p:txBody>
      </p:sp>
      <p:sp>
        <p:nvSpPr>
          <p:cNvPr id="26" name="Text 24"/>
          <p:cNvSpPr/>
          <p:nvPr/>
        </p:nvSpPr>
        <p:spPr>
          <a:xfrm>
            <a:off x="5257800" y="3127248"/>
            <a:ext cx="3474720" cy="45720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Use SHAP to understand which features influence predictions the most.</a:t>
            </a:r>
            <a:endParaRPr lang="en-US" sz="1050" dirty="0"/>
          </a:p>
        </p:txBody>
      </p:sp>
      <p:sp>
        <p:nvSpPr>
          <p:cNvPr id="27" name="Shape 25"/>
          <p:cNvSpPr/>
          <p:nvPr/>
        </p:nvSpPr>
        <p:spPr>
          <a:xfrm>
            <a:off x="4709160" y="3758184"/>
            <a:ext cx="4114800" cy="86868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28" name="Shape 26"/>
          <p:cNvSpPr/>
          <p:nvPr/>
        </p:nvSpPr>
        <p:spPr>
          <a:xfrm>
            <a:off x="4709160" y="3758184"/>
            <a:ext cx="475488" cy="868680"/>
          </a:xfrm>
          <a:prstGeom prst="rect">
            <a:avLst/>
          </a:prstGeom>
          <a:solidFill>
            <a:srgbClr val="40916C"/>
          </a:solidFill>
          <a:ln w="12700">
            <a:solidFill>
              <a:srgbClr val="40916C"/>
            </a:solidFill>
            <a:prstDash val="solid"/>
          </a:ln>
        </p:spPr>
      </p:sp>
      <p:sp>
        <p:nvSpPr>
          <p:cNvPr id="29" name="Text 27"/>
          <p:cNvSpPr/>
          <p:nvPr/>
        </p:nvSpPr>
        <p:spPr>
          <a:xfrm>
            <a:off x="4709160" y="3758184"/>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30" name="Text 28"/>
          <p:cNvSpPr/>
          <p:nvPr/>
        </p:nvSpPr>
        <p:spPr>
          <a:xfrm>
            <a:off x="5257800" y="3822192"/>
            <a:ext cx="3474720" cy="274320"/>
          </a:xfrm>
          <a:prstGeom prst="rect">
            <a:avLst/>
          </a:prstGeom>
          <a:noFill/>
          <a:ln/>
        </p:spPr>
        <p:txBody>
          <a:bodyPr wrap="square" lIns="0" tIns="0" rIns="0" bIns="0" rtlCol="0" anchor="t"/>
          <a:lstStyle/>
          <a:p>
            <a:pPr indent="0" marL="0">
              <a:buNone/>
            </a:pPr>
            <a:r>
              <a:rPr lang="en-US" sz="1200" b="1" dirty="0">
                <a:solidFill>
                  <a:srgbClr val="1B4332"/>
                </a:solidFill>
                <a:latin typeface="Calibri" pitchFamily="34" charset="0"/>
                <a:ea typeface="Calibri" pitchFamily="34" charset="-122"/>
                <a:cs typeface="Calibri" pitchFamily="34" charset="-120"/>
              </a:rPr>
              <a:t>Visualize Insights</a:t>
            </a:r>
            <a:endParaRPr lang="en-US" sz="1200" dirty="0"/>
          </a:p>
        </p:txBody>
      </p:sp>
      <p:sp>
        <p:nvSpPr>
          <p:cNvPr id="31" name="Text 29"/>
          <p:cNvSpPr/>
          <p:nvPr/>
        </p:nvSpPr>
        <p:spPr>
          <a:xfrm>
            <a:off x="5257800" y="4105656"/>
            <a:ext cx="3474720" cy="45720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Build a Power BI dashboard to make findings easy to understand for stakeholders.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BF6"/>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4332"/>
          </a:solidFill>
          <a:ln w="12700">
            <a:solidFill>
              <a:srgbClr val="1B4332"/>
            </a:solidFill>
            <a:prstDash val="solid"/>
          </a:ln>
        </p:spPr>
      </p:sp>
      <p:sp>
        <p:nvSpPr>
          <p:cNvPr id="3" name="Shape 1"/>
          <p:cNvSpPr/>
          <p:nvPr/>
        </p:nvSpPr>
        <p:spPr>
          <a:xfrm>
            <a:off x="0" y="658368"/>
            <a:ext cx="9144000" cy="50292"/>
          </a:xfrm>
          <a:prstGeom prst="rect">
            <a:avLst/>
          </a:prstGeom>
          <a:solidFill>
            <a:srgbClr val="40916C"/>
          </a:solidFill>
          <a:ln w="12700">
            <a:solidFill>
              <a:srgbClr val="40916C"/>
            </a:solidFill>
            <a:prstDash val="solid"/>
          </a:ln>
        </p:spPr>
      </p:sp>
      <p:sp>
        <p:nvSpPr>
          <p:cNvPr id="4" name="Text 2"/>
          <p:cNvSpPr/>
          <p:nvPr/>
        </p:nvSpPr>
        <p:spPr>
          <a:xfrm>
            <a:off x="320040" y="64008"/>
            <a:ext cx="8503920" cy="53035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Dataset Overview</a:t>
            </a:r>
            <a:endParaRPr lang="en-US" sz="2200" dirty="0"/>
          </a:p>
        </p:txBody>
      </p:sp>
      <p:sp>
        <p:nvSpPr>
          <p:cNvPr id="5" name="Text 3"/>
          <p:cNvSpPr/>
          <p:nvPr/>
        </p:nvSpPr>
        <p:spPr>
          <a:xfrm>
            <a:off x="320040" y="64008"/>
            <a:ext cx="8503920" cy="530352"/>
          </a:xfrm>
          <a:prstGeom prst="rect">
            <a:avLst/>
          </a:prstGeom>
          <a:noFill/>
          <a:ln/>
        </p:spPr>
        <p:txBody>
          <a:bodyPr wrap="square" lIns="0" tIns="0" rIns="0" bIns="0" rtlCol="0" anchor="b"/>
          <a:lstStyle/>
          <a:p>
            <a:pPr algn="r" indent="0" marL="0">
              <a:buNone/>
            </a:pPr>
            <a:r>
              <a:rPr lang="en-US" sz="1100" dirty="0">
                <a:solidFill>
                  <a:srgbClr val="95D5B2"/>
                </a:solidFill>
                <a:latin typeface="Calibri" pitchFamily="34" charset="0"/>
                <a:ea typeface="Calibri" pitchFamily="34" charset="-122"/>
                <a:cs typeface="Calibri" pitchFamily="34" charset="-120"/>
              </a:rPr>
              <a:t>3 files · 15+ columns · OpenFlights.org</a:t>
            </a:r>
            <a:endParaRPr lang="en-US" sz="1100" dirty="0"/>
          </a:p>
        </p:txBody>
      </p:sp>
      <p:sp>
        <p:nvSpPr>
          <p:cNvPr id="6" name="Shape 4"/>
          <p:cNvSpPr/>
          <p:nvPr/>
        </p:nvSpPr>
        <p:spPr>
          <a:xfrm>
            <a:off x="0" y="4983480"/>
            <a:ext cx="9144000" cy="160020"/>
          </a:xfrm>
          <a:prstGeom prst="rect">
            <a:avLst/>
          </a:prstGeom>
          <a:solidFill>
            <a:srgbClr val="1B4332"/>
          </a:solidFill>
          <a:ln w="12700">
            <a:solidFill>
              <a:srgbClr val="1B4332"/>
            </a:solidFill>
            <a:prstDash val="solid"/>
          </a:ln>
        </p:spPr>
      </p:sp>
      <p:sp>
        <p:nvSpPr>
          <p:cNvPr id="7" name="Text 5"/>
          <p:cNvSpPr/>
          <p:nvPr/>
        </p:nvSpPr>
        <p:spPr>
          <a:xfrm>
            <a:off x="274320" y="4983480"/>
            <a:ext cx="8595360" cy="160020"/>
          </a:xfrm>
          <a:prstGeom prst="rect">
            <a:avLst/>
          </a:prstGeom>
          <a:noFill/>
          <a:ln/>
        </p:spPr>
        <p:txBody>
          <a:bodyPr wrap="square" lIns="0" tIns="0" rIns="0" bIns="0" rtlCol="0" anchor="ctr"/>
          <a:lstStyle/>
          <a:p>
            <a:pPr indent="0" marL="0">
              <a:buNone/>
            </a:pPr>
            <a:r>
              <a:rPr lang="en-US" sz="800" dirty="0">
                <a:solidFill>
                  <a:srgbClr val="74C69D"/>
                </a:solidFill>
                <a:latin typeface="Calibri" pitchFamily="34" charset="0"/>
                <a:ea typeface="Calibri" pitchFamily="34" charset="-122"/>
                <a:cs typeface="Calibri" pitchFamily="34" charset="-120"/>
              </a:rPr>
              <a:t>DSAI 4103 – Business Analytics  |  Airline Activity Prediction</a:t>
            </a:r>
            <a:endParaRPr lang="en-US" sz="800" dirty="0"/>
          </a:p>
        </p:txBody>
      </p:sp>
      <p:sp>
        <p:nvSpPr>
          <p:cNvPr id="8" name="Shape 6"/>
          <p:cNvSpPr/>
          <p:nvPr/>
        </p:nvSpPr>
        <p:spPr>
          <a:xfrm>
            <a:off x="320040" y="804672"/>
            <a:ext cx="2697480" cy="347472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320040" y="804672"/>
            <a:ext cx="2697480" cy="685800"/>
          </a:xfrm>
          <a:prstGeom prst="rect">
            <a:avLst/>
          </a:prstGeom>
          <a:solidFill>
            <a:srgbClr val="40916C"/>
          </a:solidFill>
          <a:ln w="12700">
            <a:solidFill>
              <a:srgbClr val="40916C"/>
            </a:solidFill>
            <a:prstDash val="solid"/>
          </a:ln>
        </p:spPr>
      </p:sp>
      <p:sp>
        <p:nvSpPr>
          <p:cNvPr id="10" name="Text 8"/>
          <p:cNvSpPr/>
          <p:nvPr/>
        </p:nvSpPr>
        <p:spPr>
          <a:xfrm>
            <a:off x="429768" y="850392"/>
            <a:ext cx="2468880" cy="5943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Airlines</a:t>
            </a:r>
            <a:endParaRPr lang="en-US" sz="1800" dirty="0"/>
          </a:p>
        </p:txBody>
      </p:sp>
      <p:sp>
        <p:nvSpPr>
          <p:cNvPr id="11" name="Text 9"/>
          <p:cNvSpPr/>
          <p:nvPr/>
        </p:nvSpPr>
        <p:spPr>
          <a:xfrm>
            <a:off x="457200" y="1600200"/>
            <a:ext cx="2423160" cy="320040"/>
          </a:xfrm>
          <a:prstGeom prst="rect">
            <a:avLst/>
          </a:prstGeom>
          <a:noFill/>
          <a:ln/>
        </p:spPr>
        <p:txBody>
          <a:bodyPr wrap="square" lIns="0" tIns="0" rIns="0" bIns="0" rtlCol="0" anchor="ctr"/>
          <a:lstStyle/>
          <a:p>
            <a:pPr indent="0" marL="0">
              <a:buNone/>
            </a:pPr>
            <a:r>
              <a:rPr lang="en-US" sz="2000" b="1" dirty="0">
                <a:solidFill>
                  <a:srgbClr val="40916C"/>
                </a:solidFill>
                <a:latin typeface="Calibri" pitchFamily="34" charset="0"/>
                <a:ea typeface="Calibri" pitchFamily="34" charset="-122"/>
                <a:cs typeface="Calibri" pitchFamily="34" charset="-120"/>
              </a:rPr>
              <a:t>6,161 records</a:t>
            </a:r>
            <a:endParaRPr lang="en-US" sz="2000" dirty="0"/>
          </a:p>
        </p:txBody>
      </p:sp>
      <p:sp>
        <p:nvSpPr>
          <p:cNvPr id="12" name="Text 10"/>
          <p:cNvSpPr/>
          <p:nvPr/>
        </p:nvSpPr>
        <p:spPr>
          <a:xfrm>
            <a:off x="457200" y="1901952"/>
            <a:ext cx="2423160" cy="22860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records in dataset</a:t>
            </a:r>
            <a:endParaRPr lang="en-US" sz="950" dirty="0"/>
          </a:p>
        </p:txBody>
      </p:sp>
      <p:sp>
        <p:nvSpPr>
          <p:cNvPr id="13" name="Shape 11"/>
          <p:cNvSpPr/>
          <p:nvPr/>
        </p:nvSpPr>
        <p:spPr>
          <a:xfrm>
            <a:off x="457200" y="2176272"/>
            <a:ext cx="2423160" cy="36576"/>
          </a:xfrm>
          <a:prstGeom prst="rect">
            <a:avLst/>
          </a:prstGeom>
          <a:solidFill>
            <a:srgbClr val="CBD5E1"/>
          </a:solidFill>
          <a:ln w="12700">
            <a:solidFill>
              <a:srgbClr val="CBD5E1"/>
            </a:solidFill>
            <a:prstDash val="solid"/>
          </a:ln>
        </p:spPr>
      </p:sp>
      <p:sp>
        <p:nvSpPr>
          <p:cNvPr id="14" name="Text 12"/>
          <p:cNvSpPr/>
          <p:nvPr/>
        </p:nvSpPr>
        <p:spPr>
          <a:xfrm>
            <a:off x="457200" y="2286000"/>
            <a:ext cx="242316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7 columns</a:t>
            </a:r>
            <a:endParaRPr lang="en-US" sz="1300" dirty="0"/>
          </a:p>
        </p:txBody>
      </p:sp>
      <p:sp>
        <p:nvSpPr>
          <p:cNvPr id="15" name="Text 13"/>
          <p:cNvSpPr/>
          <p:nvPr/>
        </p:nvSpPr>
        <p:spPr>
          <a:xfrm>
            <a:off x="457200" y="2606040"/>
            <a:ext cx="2423160" cy="228600"/>
          </a:xfrm>
          <a:prstGeom prst="rect">
            <a:avLst/>
          </a:prstGeom>
          <a:noFill/>
          <a:ln/>
        </p:spPr>
        <p:txBody>
          <a:bodyPr wrap="square" lIns="0" tIns="0" rIns="0" bIns="0" rtlCol="0" anchor="ctr"/>
          <a:lstStyle/>
          <a:p>
            <a:pPr indent="0" marL="0">
              <a:buNone/>
            </a:pPr>
            <a:r>
              <a:rPr lang="en-US" sz="950" b="1" dirty="0">
                <a:solidFill>
                  <a:srgbClr val="475569"/>
                </a:solidFill>
                <a:latin typeface="Calibri" pitchFamily="34" charset="0"/>
                <a:ea typeface="Calibri" pitchFamily="34" charset="-122"/>
                <a:cs typeface="Calibri" pitchFamily="34" charset="-120"/>
              </a:rPr>
              <a:t>Key fields:</a:t>
            </a:r>
            <a:endParaRPr lang="en-US" sz="950" dirty="0"/>
          </a:p>
        </p:txBody>
      </p:sp>
      <p:sp>
        <p:nvSpPr>
          <p:cNvPr id="16" name="Text 14"/>
          <p:cNvSpPr/>
          <p:nvPr/>
        </p:nvSpPr>
        <p:spPr>
          <a:xfrm>
            <a:off x="457200" y="2834640"/>
            <a:ext cx="2423160" cy="12801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Name, IATA, ICAO, Callsign, Country, Active</a:t>
            </a:r>
            <a:endParaRPr lang="en-US" sz="950" dirty="0"/>
          </a:p>
        </p:txBody>
      </p:sp>
      <p:sp>
        <p:nvSpPr>
          <p:cNvPr id="17" name="Shape 15"/>
          <p:cNvSpPr/>
          <p:nvPr/>
        </p:nvSpPr>
        <p:spPr>
          <a:xfrm>
            <a:off x="3172968" y="804672"/>
            <a:ext cx="2697480" cy="347472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18" name="Shape 16"/>
          <p:cNvSpPr/>
          <p:nvPr/>
        </p:nvSpPr>
        <p:spPr>
          <a:xfrm>
            <a:off x="3172968" y="804672"/>
            <a:ext cx="2697480" cy="685800"/>
          </a:xfrm>
          <a:prstGeom prst="rect">
            <a:avLst/>
          </a:prstGeom>
          <a:solidFill>
            <a:srgbClr val="1B4332"/>
          </a:solidFill>
          <a:ln w="12700">
            <a:solidFill>
              <a:srgbClr val="1B4332"/>
            </a:solidFill>
            <a:prstDash val="solid"/>
          </a:ln>
        </p:spPr>
      </p:sp>
      <p:sp>
        <p:nvSpPr>
          <p:cNvPr id="19" name="Text 17"/>
          <p:cNvSpPr/>
          <p:nvPr/>
        </p:nvSpPr>
        <p:spPr>
          <a:xfrm>
            <a:off x="3282696" y="850392"/>
            <a:ext cx="2468880" cy="5943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Airports</a:t>
            </a:r>
            <a:endParaRPr lang="en-US" sz="1800" dirty="0"/>
          </a:p>
        </p:txBody>
      </p:sp>
      <p:sp>
        <p:nvSpPr>
          <p:cNvPr id="20" name="Text 18"/>
          <p:cNvSpPr/>
          <p:nvPr/>
        </p:nvSpPr>
        <p:spPr>
          <a:xfrm>
            <a:off x="3310128" y="1600200"/>
            <a:ext cx="2423160" cy="320040"/>
          </a:xfrm>
          <a:prstGeom prst="rect">
            <a:avLst/>
          </a:prstGeom>
          <a:noFill/>
          <a:ln/>
        </p:spPr>
        <p:txBody>
          <a:bodyPr wrap="square" lIns="0" tIns="0" rIns="0" bIns="0" rtlCol="0" anchor="ctr"/>
          <a:lstStyle/>
          <a:p>
            <a:pPr indent="0" marL="0">
              <a:buNone/>
            </a:pPr>
            <a:r>
              <a:rPr lang="en-US" sz="2000" b="1" dirty="0">
                <a:solidFill>
                  <a:srgbClr val="1B4332"/>
                </a:solidFill>
                <a:latin typeface="Calibri" pitchFamily="34" charset="0"/>
                <a:ea typeface="Calibri" pitchFamily="34" charset="-122"/>
                <a:cs typeface="Calibri" pitchFamily="34" charset="-120"/>
              </a:rPr>
              <a:t>7,698 records</a:t>
            </a:r>
            <a:endParaRPr lang="en-US" sz="2000" dirty="0"/>
          </a:p>
        </p:txBody>
      </p:sp>
      <p:sp>
        <p:nvSpPr>
          <p:cNvPr id="21" name="Text 19"/>
          <p:cNvSpPr/>
          <p:nvPr/>
        </p:nvSpPr>
        <p:spPr>
          <a:xfrm>
            <a:off x="3310128" y="1901952"/>
            <a:ext cx="2423160" cy="22860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records in dataset</a:t>
            </a:r>
            <a:endParaRPr lang="en-US" sz="950" dirty="0"/>
          </a:p>
        </p:txBody>
      </p:sp>
      <p:sp>
        <p:nvSpPr>
          <p:cNvPr id="22" name="Shape 20"/>
          <p:cNvSpPr/>
          <p:nvPr/>
        </p:nvSpPr>
        <p:spPr>
          <a:xfrm>
            <a:off x="3310128" y="2176272"/>
            <a:ext cx="2423160" cy="36576"/>
          </a:xfrm>
          <a:prstGeom prst="rect">
            <a:avLst/>
          </a:prstGeom>
          <a:solidFill>
            <a:srgbClr val="CBD5E1"/>
          </a:solidFill>
          <a:ln w="12700">
            <a:solidFill>
              <a:srgbClr val="CBD5E1"/>
            </a:solidFill>
            <a:prstDash val="solid"/>
          </a:ln>
        </p:spPr>
      </p:sp>
      <p:sp>
        <p:nvSpPr>
          <p:cNvPr id="23" name="Text 21"/>
          <p:cNvSpPr/>
          <p:nvPr/>
        </p:nvSpPr>
        <p:spPr>
          <a:xfrm>
            <a:off x="3310128" y="2286000"/>
            <a:ext cx="242316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12 columns</a:t>
            </a:r>
            <a:endParaRPr lang="en-US" sz="1300" dirty="0"/>
          </a:p>
        </p:txBody>
      </p:sp>
      <p:sp>
        <p:nvSpPr>
          <p:cNvPr id="24" name="Text 22"/>
          <p:cNvSpPr/>
          <p:nvPr/>
        </p:nvSpPr>
        <p:spPr>
          <a:xfrm>
            <a:off x="3310128" y="2606040"/>
            <a:ext cx="2423160" cy="228600"/>
          </a:xfrm>
          <a:prstGeom prst="rect">
            <a:avLst/>
          </a:prstGeom>
          <a:noFill/>
          <a:ln/>
        </p:spPr>
        <p:txBody>
          <a:bodyPr wrap="square" lIns="0" tIns="0" rIns="0" bIns="0" rtlCol="0" anchor="ctr"/>
          <a:lstStyle/>
          <a:p>
            <a:pPr indent="0" marL="0">
              <a:buNone/>
            </a:pPr>
            <a:r>
              <a:rPr lang="en-US" sz="950" b="1" dirty="0">
                <a:solidFill>
                  <a:srgbClr val="475569"/>
                </a:solidFill>
                <a:latin typeface="Calibri" pitchFamily="34" charset="0"/>
                <a:ea typeface="Calibri" pitchFamily="34" charset="-122"/>
                <a:cs typeface="Calibri" pitchFamily="34" charset="-120"/>
              </a:rPr>
              <a:t>Key fields:</a:t>
            </a:r>
            <a:endParaRPr lang="en-US" sz="950" dirty="0"/>
          </a:p>
        </p:txBody>
      </p:sp>
      <p:sp>
        <p:nvSpPr>
          <p:cNvPr id="25" name="Text 23"/>
          <p:cNvSpPr/>
          <p:nvPr/>
        </p:nvSpPr>
        <p:spPr>
          <a:xfrm>
            <a:off x="3310128" y="2834640"/>
            <a:ext cx="2423160" cy="12801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Name, City, Country, IATA, ICAO, Lat, Long, Altitude, Timezone</a:t>
            </a:r>
            <a:endParaRPr lang="en-US" sz="950" dirty="0"/>
          </a:p>
        </p:txBody>
      </p:sp>
      <p:sp>
        <p:nvSpPr>
          <p:cNvPr id="26" name="Shape 24"/>
          <p:cNvSpPr/>
          <p:nvPr/>
        </p:nvSpPr>
        <p:spPr>
          <a:xfrm>
            <a:off x="6025896" y="804672"/>
            <a:ext cx="2697480" cy="347472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27" name="Shape 25"/>
          <p:cNvSpPr/>
          <p:nvPr/>
        </p:nvSpPr>
        <p:spPr>
          <a:xfrm>
            <a:off x="6025896" y="804672"/>
            <a:ext cx="2697480" cy="685800"/>
          </a:xfrm>
          <a:prstGeom prst="rect">
            <a:avLst/>
          </a:prstGeom>
          <a:solidFill>
            <a:srgbClr val="D4A017"/>
          </a:solidFill>
          <a:ln w="12700">
            <a:solidFill>
              <a:srgbClr val="D4A017"/>
            </a:solidFill>
            <a:prstDash val="solid"/>
          </a:ln>
        </p:spPr>
      </p:sp>
      <p:sp>
        <p:nvSpPr>
          <p:cNvPr id="28" name="Text 26"/>
          <p:cNvSpPr/>
          <p:nvPr/>
        </p:nvSpPr>
        <p:spPr>
          <a:xfrm>
            <a:off x="6135624" y="850392"/>
            <a:ext cx="2468880" cy="5943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Routes</a:t>
            </a:r>
            <a:endParaRPr lang="en-US" sz="1800" dirty="0"/>
          </a:p>
        </p:txBody>
      </p:sp>
      <p:sp>
        <p:nvSpPr>
          <p:cNvPr id="29" name="Text 27"/>
          <p:cNvSpPr/>
          <p:nvPr/>
        </p:nvSpPr>
        <p:spPr>
          <a:xfrm>
            <a:off x="6163056" y="1600200"/>
            <a:ext cx="2423160" cy="320040"/>
          </a:xfrm>
          <a:prstGeom prst="rect">
            <a:avLst/>
          </a:prstGeom>
          <a:noFill/>
          <a:ln/>
        </p:spPr>
        <p:txBody>
          <a:bodyPr wrap="square" lIns="0" tIns="0" rIns="0" bIns="0" rtlCol="0" anchor="ctr"/>
          <a:lstStyle/>
          <a:p>
            <a:pPr indent="0" marL="0">
              <a:buNone/>
            </a:pPr>
            <a:r>
              <a:rPr lang="en-US" sz="2000" b="1" dirty="0">
                <a:solidFill>
                  <a:srgbClr val="D4A017"/>
                </a:solidFill>
                <a:latin typeface="Calibri" pitchFamily="34" charset="0"/>
                <a:ea typeface="Calibri" pitchFamily="34" charset="-122"/>
                <a:cs typeface="Calibri" pitchFamily="34" charset="-120"/>
              </a:rPr>
              <a:t>67,663 records</a:t>
            </a:r>
            <a:endParaRPr lang="en-US" sz="2000" dirty="0"/>
          </a:p>
        </p:txBody>
      </p:sp>
      <p:sp>
        <p:nvSpPr>
          <p:cNvPr id="30" name="Text 28"/>
          <p:cNvSpPr/>
          <p:nvPr/>
        </p:nvSpPr>
        <p:spPr>
          <a:xfrm>
            <a:off x="6163056" y="1901952"/>
            <a:ext cx="2423160" cy="22860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records in dataset</a:t>
            </a:r>
            <a:endParaRPr lang="en-US" sz="950" dirty="0"/>
          </a:p>
        </p:txBody>
      </p:sp>
      <p:sp>
        <p:nvSpPr>
          <p:cNvPr id="31" name="Shape 29"/>
          <p:cNvSpPr/>
          <p:nvPr/>
        </p:nvSpPr>
        <p:spPr>
          <a:xfrm>
            <a:off x="6163056" y="2176272"/>
            <a:ext cx="2423160" cy="36576"/>
          </a:xfrm>
          <a:prstGeom prst="rect">
            <a:avLst/>
          </a:prstGeom>
          <a:solidFill>
            <a:srgbClr val="CBD5E1"/>
          </a:solidFill>
          <a:ln w="12700">
            <a:solidFill>
              <a:srgbClr val="CBD5E1"/>
            </a:solidFill>
            <a:prstDash val="solid"/>
          </a:ln>
        </p:spPr>
      </p:sp>
      <p:sp>
        <p:nvSpPr>
          <p:cNvPr id="32" name="Text 30"/>
          <p:cNvSpPr/>
          <p:nvPr/>
        </p:nvSpPr>
        <p:spPr>
          <a:xfrm>
            <a:off x="6163056" y="2286000"/>
            <a:ext cx="242316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9 columns</a:t>
            </a:r>
            <a:endParaRPr lang="en-US" sz="1300" dirty="0"/>
          </a:p>
        </p:txBody>
      </p:sp>
      <p:sp>
        <p:nvSpPr>
          <p:cNvPr id="33" name="Text 31"/>
          <p:cNvSpPr/>
          <p:nvPr/>
        </p:nvSpPr>
        <p:spPr>
          <a:xfrm>
            <a:off x="6163056" y="2606040"/>
            <a:ext cx="2423160" cy="228600"/>
          </a:xfrm>
          <a:prstGeom prst="rect">
            <a:avLst/>
          </a:prstGeom>
          <a:noFill/>
          <a:ln/>
        </p:spPr>
        <p:txBody>
          <a:bodyPr wrap="square" lIns="0" tIns="0" rIns="0" bIns="0" rtlCol="0" anchor="ctr"/>
          <a:lstStyle/>
          <a:p>
            <a:pPr indent="0" marL="0">
              <a:buNone/>
            </a:pPr>
            <a:r>
              <a:rPr lang="en-US" sz="950" b="1" dirty="0">
                <a:solidFill>
                  <a:srgbClr val="475569"/>
                </a:solidFill>
                <a:latin typeface="Calibri" pitchFamily="34" charset="0"/>
                <a:ea typeface="Calibri" pitchFamily="34" charset="-122"/>
                <a:cs typeface="Calibri" pitchFamily="34" charset="-120"/>
              </a:rPr>
              <a:t>Key fields:</a:t>
            </a:r>
            <a:endParaRPr lang="en-US" sz="950" dirty="0"/>
          </a:p>
        </p:txBody>
      </p:sp>
      <p:sp>
        <p:nvSpPr>
          <p:cNvPr id="34" name="Text 32"/>
          <p:cNvSpPr/>
          <p:nvPr/>
        </p:nvSpPr>
        <p:spPr>
          <a:xfrm>
            <a:off x="6163056" y="2834640"/>
            <a:ext cx="2423160" cy="12801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Airline, Source Airport, Destination Airport, Codeshare, Stops, Equipment</a:t>
            </a:r>
            <a:endParaRPr lang="en-US" sz="950" dirty="0"/>
          </a:p>
        </p:txBody>
      </p:sp>
      <p:sp>
        <p:nvSpPr>
          <p:cNvPr id="35" name="Shape 33"/>
          <p:cNvSpPr/>
          <p:nvPr/>
        </p:nvSpPr>
        <p:spPr>
          <a:xfrm>
            <a:off x="320040" y="4389120"/>
            <a:ext cx="8503920" cy="475488"/>
          </a:xfrm>
          <a:prstGeom prst="rect">
            <a:avLst/>
          </a:prstGeom>
          <a:solidFill>
            <a:srgbClr val="EAF7ED"/>
          </a:solidFill>
          <a:ln w="12700">
            <a:solidFill>
              <a:srgbClr val="B7E4C7"/>
            </a:solidFill>
            <a:prstDash val="solid"/>
          </a:ln>
        </p:spPr>
      </p:sp>
      <p:sp>
        <p:nvSpPr>
          <p:cNvPr id="36" name="Text 34"/>
          <p:cNvSpPr/>
          <p:nvPr/>
        </p:nvSpPr>
        <p:spPr>
          <a:xfrm>
            <a:off x="457200" y="4407408"/>
            <a:ext cx="8229600" cy="438912"/>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Source: OpenFlights.org  ·  Data accessed from Kaggle  ·  3 files combined = 28 total columns  ·  Meets all project dataset requirements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BF6"/>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4332"/>
          </a:solidFill>
          <a:ln w="12700">
            <a:solidFill>
              <a:srgbClr val="1B4332"/>
            </a:solidFill>
            <a:prstDash val="solid"/>
          </a:ln>
        </p:spPr>
      </p:sp>
      <p:sp>
        <p:nvSpPr>
          <p:cNvPr id="3" name="Shape 1"/>
          <p:cNvSpPr/>
          <p:nvPr/>
        </p:nvSpPr>
        <p:spPr>
          <a:xfrm>
            <a:off x="0" y="658368"/>
            <a:ext cx="9144000" cy="50292"/>
          </a:xfrm>
          <a:prstGeom prst="rect">
            <a:avLst/>
          </a:prstGeom>
          <a:solidFill>
            <a:srgbClr val="40916C"/>
          </a:solidFill>
          <a:ln w="12700">
            <a:solidFill>
              <a:srgbClr val="40916C"/>
            </a:solidFill>
            <a:prstDash val="solid"/>
          </a:ln>
        </p:spPr>
      </p:sp>
      <p:sp>
        <p:nvSpPr>
          <p:cNvPr id="4" name="Text 2"/>
          <p:cNvSpPr/>
          <p:nvPr/>
        </p:nvSpPr>
        <p:spPr>
          <a:xfrm>
            <a:off x="320040" y="64008"/>
            <a:ext cx="8503920" cy="53035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Data Preparation &amp; Feature Engineering</a:t>
            </a:r>
            <a:endParaRPr lang="en-US" sz="2200" dirty="0"/>
          </a:p>
        </p:txBody>
      </p:sp>
      <p:sp>
        <p:nvSpPr>
          <p:cNvPr id="5" name="Text 3"/>
          <p:cNvSpPr/>
          <p:nvPr/>
        </p:nvSpPr>
        <p:spPr>
          <a:xfrm>
            <a:off x="320040" y="64008"/>
            <a:ext cx="8503920" cy="530352"/>
          </a:xfrm>
          <a:prstGeom prst="rect">
            <a:avLst/>
          </a:prstGeom>
          <a:noFill/>
          <a:ln/>
        </p:spPr>
        <p:txBody>
          <a:bodyPr wrap="square" lIns="0" tIns="0" rIns="0" bIns="0" rtlCol="0" anchor="b"/>
          <a:lstStyle/>
          <a:p>
            <a:pPr algn="r" indent="0" marL="0">
              <a:buNone/>
            </a:pPr>
            <a:r>
              <a:rPr lang="en-US" sz="1100" dirty="0">
                <a:solidFill>
                  <a:srgbClr val="95D5B2"/>
                </a:solidFill>
                <a:latin typeface="Calibri" pitchFamily="34" charset="0"/>
                <a:ea typeface="Calibri" pitchFamily="34" charset="-122"/>
                <a:cs typeface="Calibri" pitchFamily="34" charset="-120"/>
              </a:rPr>
              <a:t>Cleaning · Joining · Enriching</a:t>
            </a:r>
            <a:endParaRPr lang="en-US" sz="1100" dirty="0"/>
          </a:p>
        </p:txBody>
      </p:sp>
      <p:sp>
        <p:nvSpPr>
          <p:cNvPr id="6" name="Shape 4"/>
          <p:cNvSpPr/>
          <p:nvPr/>
        </p:nvSpPr>
        <p:spPr>
          <a:xfrm>
            <a:off x="0" y="4983480"/>
            <a:ext cx="9144000" cy="160020"/>
          </a:xfrm>
          <a:prstGeom prst="rect">
            <a:avLst/>
          </a:prstGeom>
          <a:solidFill>
            <a:srgbClr val="1B4332"/>
          </a:solidFill>
          <a:ln w="12700">
            <a:solidFill>
              <a:srgbClr val="1B4332"/>
            </a:solidFill>
            <a:prstDash val="solid"/>
          </a:ln>
        </p:spPr>
      </p:sp>
      <p:sp>
        <p:nvSpPr>
          <p:cNvPr id="7" name="Text 5"/>
          <p:cNvSpPr/>
          <p:nvPr/>
        </p:nvSpPr>
        <p:spPr>
          <a:xfrm>
            <a:off x="274320" y="4983480"/>
            <a:ext cx="8595360" cy="160020"/>
          </a:xfrm>
          <a:prstGeom prst="rect">
            <a:avLst/>
          </a:prstGeom>
          <a:noFill/>
          <a:ln/>
        </p:spPr>
        <p:txBody>
          <a:bodyPr wrap="square" lIns="0" tIns="0" rIns="0" bIns="0" rtlCol="0" anchor="ctr"/>
          <a:lstStyle/>
          <a:p>
            <a:pPr indent="0" marL="0">
              <a:buNone/>
            </a:pPr>
            <a:r>
              <a:rPr lang="en-US" sz="800" dirty="0">
                <a:solidFill>
                  <a:srgbClr val="74C69D"/>
                </a:solidFill>
                <a:latin typeface="Calibri" pitchFamily="34" charset="0"/>
                <a:ea typeface="Calibri" pitchFamily="34" charset="-122"/>
                <a:cs typeface="Calibri" pitchFamily="34" charset="-120"/>
              </a:rPr>
              <a:t>DSAI 4103 – Business Analytics  |  Airline Activity Prediction</a:t>
            </a:r>
            <a:endParaRPr lang="en-US" sz="800" dirty="0"/>
          </a:p>
        </p:txBody>
      </p:sp>
      <p:sp>
        <p:nvSpPr>
          <p:cNvPr id="8" name="Shape 6"/>
          <p:cNvSpPr/>
          <p:nvPr/>
        </p:nvSpPr>
        <p:spPr>
          <a:xfrm>
            <a:off x="320040" y="804672"/>
            <a:ext cx="4160520" cy="406908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320040" y="804672"/>
            <a:ext cx="4160520" cy="384048"/>
          </a:xfrm>
          <a:prstGeom prst="rect">
            <a:avLst/>
          </a:prstGeom>
          <a:solidFill>
            <a:srgbClr val="1B4332"/>
          </a:solidFill>
          <a:ln w="12700">
            <a:solidFill>
              <a:srgbClr val="1B4332"/>
            </a:solidFill>
            <a:prstDash val="solid"/>
          </a:ln>
        </p:spPr>
      </p:sp>
      <p:sp>
        <p:nvSpPr>
          <p:cNvPr id="10" name="Text 8"/>
          <p:cNvSpPr/>
          <p:nvPr/>
        </p:nvSpPr>
        <p:spPr>
          <a:xfrm>
            <a:off x="411480" y="804672"/>
            <a:ext cx="397764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 Cleaning &amp; Preparation</a:t>
            </a:r>
            <a:endParaRPr lang="en-US" sz="1250" dirty="0"/>
          </a:p>
        </p:txBody>
      </p:sp>
      <p:sp>
        <p:nvSpPr>
          <p:cNvPr id="11" name="Shape 9"/>
          <p:cNvSpPr/>
          <p:nvPr/>
        </p:nvSpPr>
        <p:spPr>
          <a:xfrm>
            <a:off x="457200" y="1344168"/>
            <a:ext cx="292608" cy="292608"/>
          </a:xfrm>
          <a:prstGeom prst="ellipse">
            <a:avLst/>
          </a:prstGeom>
          <a:solidFill>
            <a:srgbClr val="40916C"/>
          </a:solidFill>
          <a:ln w="12700">
            <a:solidFill>
              <a:srgbClr val="40916C"/>
            </a:solidFill>
            <a:prstDash val="solid"/>
          </a:ln>
        </p:spPr>
      </p:sp>
      <p:sp>
        <p:nvSpPr>
          <p:cNvPr id="12" name="Text 10"/>
          <p:cNvSpPr/>
          <p:nvPr/>
        </p:nvSpPr>
        <p:spPr>
          <a:xfrm>
            <a:off x="457200" y="134416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1"/>
          <p:cNvSpPr/>
          <p:nvPr/>
        </p:nvSpPr>
        <p:spPr>
          <a:xfrm>
            <a:off x="841248" y="1298448"/>
            <a:ext cx="3547872" cy="27432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Handled missing values</a:t>
            </a:r>
            <a:endParaRPr lang="en-US" sz="1250" dirty="0"/>
          </a:p>
        </p:txBody>
      </p:sp>
      <p:sp>
        <p:nvSpPr>
          <p:cNvPr id="14" name="Text 12"/>
          <p:cNvSpPr/>
          <p:nvPr/>
        </p:nvSpPr>
        <p:spPr>
          <a:xfrm>
            <a:off x="841248" y="1572768"/>
            <a:ext cx="3547872" cy="38404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Replaced '\N' and '-' placeholders with NaN across all identifier columns.</a:t>
            </a:r>
            <a:endParaRPr lang="en-US" sz="1100" dirty="0"/>
          </a:p>
        </p:txBody>
      </p:sp>
      <p:sp>
        <p:nvSpPr>
          <p:cNvPr id="15" name="Shape 13"/>
          <p:cNvSpPr/>
          <p:nvPr/>
        </p:nvSpPr>
        <p:spPr>
          <a:xfrm>
            <a:off x="457200" y="2048256"/>
            <a:ext cx="292608" cy="292608"/>
          </a:xfrm>
          <a:prstGeom prst="ellipse">
            <a:avLst/>
          </a:prstGeom>
          <a:solidFill>
            <a:srgbClr val="40916C"/>
          </a:solidFill>
          <a:ln w="12700">
            <a:solidFill>
              <a:srgbClr val="40916C"/>
            </a:solidFill>
            <a:prstDash val="solid"/>
          </a:ln>
        </p:spPr>
      </p:sp>
      <p:sp>
        <p:nvSpPr>
          <p:cNvPr id="16" name="Text 14"/>
          <p:cNvSpPr/>
          <p:nvPr/>
        </p:nvSpPr>
        <p:spPr>
          <a:xfrm>
            <a:off x="457200" y="204825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Text 15"/>
          <p:cNvSpPr/>
          <p:nvPr/>
        </p:nvSpPr>
        <p:spPr>
          <a:xfrm>
            <a:off x="841248" y="2002536"/>
            <a:ext cx="3547872" cy="27432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Removed duplicates</a:t>
            </a:r>
            <a:endParaRPr lang="en-US" sz="1250" dirty="0"/>
          </a:p>
        </p:txBody>
      </p:sp>
      <p:sp>
        <p:nvSpPr>
          <p:cNvPr id="18" name="Text 16"/>
          <p:cNvSpPr/>
          <p:nvPr/>
        </p:nvSpPr>
        <p:spPr>
          <a:xfrm>
            <a:off x="841248" y="2276856"/>
            <a:ext cx="3547872" cy="38404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Dropped exact duplicate airline records from the dataset.</a:t>
            </a:r>
            <a:endParaRPr lang="en-US" sz="1100" dirty="0"/>
          </a:p>
        </p:txBody>
      </p:sp>
      <p:sp>
        <p:nvSpPr>
          <p:cNvPr id="19" name="Shape 17"/>
          <p:cNvSpPr/>
          <p:nvPr/>
        </p:nvSpPr>
        <p:spPr>
          <a:xfrm>
            <a:off x="457200" y="2752344"/>
            <a:ext cx="292608" cy="292608"/>
          </a:xfrm>
          <a:prstGeom prst="ellipse">
            <a:avLst/>
          </a:prstGeom>
          <a:solidFill>
            <a:srgbClr val="40916C"/>
          </a:solidFill>
          <a:ln w="12700">
            <a:solidFill>
              <a:srgbClr val="40916C"/>
            </a:solidFill>
            <a:prstDash val="solid"/>
          </a:ln>
        </p:spPr>
      </p:sp>
      <p:sp>
        <p:nvSpPr>
          <p:cNvPr id="20" name="Text 18"/>
          <p:cNvSpPr/>
          <p:nvPr/>
        </p:nvSpPr>
        <p:spPr>
          <a:xfrm>
            <a:off x="457200" y="27523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841248" y="2706624"/>
            <a:ext cx="3547872" cy="27432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Standardized country names</a:t>
            </a:r>
            <a:endParaRPr lang="en-US" sz="1250" dirty="0"/>
          </a:p>
        </p:txBody>
      </p:sp>
      <p:sp>
        <p:nvSpPr>
          <p:cNvPr id="22" name="Text 20"/>
          <p:cNvSpPr/>
          <p:nvPr/>
        </p:nvSpPr>
        <p:spPr>
          <a:xfrm>
            <a:off x="841248" y="2980944"/>
            <a:ext cx="3547872" cy="38404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Applied .title() formatting so 'united states' → 'United States'.</a:t>
            </a:r>
            <a:endParaRPr lang="en-US" sz="1100" dirty="0"/>
          </a:p>
        </p:txBody>
      </p:sp>
      <p:sp>
        <p:nvSpPr>
          <p:cNvPr id="23" name="Shape 21"/>
          <p:cNvSpPr/>
          <p:nvPr/>
        </p:nvSpPr>
        <p:spPr>
          <a:xfrm>
            <a:off x="457200" y="3456432"/>
            <a:ext cx="292608" cy="292608"/>
          </a:xfrm>
          <a:prstGeom prst="ellipse">
            <a:avLst/>
          </a:prstGeom>
          <a:solidFill>
            <a:srgbClr val="40916C"/>
          </a:solidFill>
          <a:ln w="12700">
            <a:solidFill>
              <a:srgbClr val="40916C"/>
            </a:solidFill>
            <a:prstDash val="solid"/>
          </a:ln>
        </p:spPr>
      </p:sp>
      <p:sp>
        <p:nvSpPr>
          <p:cNvPr id="24" name="Text 22"/>
          <p:cNvSpPr/>
          <p:nvPr/>
        </p:nvSpPr>
        <p:spPr>
          <a:xfrm>
            <a:off x="457200" y="345643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3"/>
          <p:cNvSpPr/>
          <p:nvPr/>
        </p:nvSpPr>
        <p:spPr>
          <a:xfrm>
            <a:off x="841248" y="3410712"/>
            <a:ext cx="3547872" cy="27432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Merged 3 datasets</a:t>
            </a:r>
            <a:endParaRPr lang="en-US" sz="1250" dirty="0"/>
          </a:p>
        </p:txBody>
      </p:sp>
      <p:sp>
        <p:nvSpPr>
          <p:cNvPr id="26" name="Text 24"/>
          <p:cNvSpPr/>
          <p:nvPr/>
        </p:nvSpPr>
        <p:spPr>
          <a:xfrm>
            <a:off x="841248" y="3685032"/>
            <a:ext cx="3547872" cy="38404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Joined airlines → routes → airports using IATA codes as the key.</a:t>
            </a:r>
            <a:endParaRPr lang="en-US" sz="1100" dirty="0"/>
          </a:p>
        </p:txBody>
      </p:sp>
      <p:sp>
        <p:nvSpPr>
          <p:cNvPr id="27" name="Shape 25"/>
          <p:cNvSpPr/>
          <p:nvPr/>
        </p:nvSpPr>
        <p:spPr>
          <a:xfrm>
            <a:off x="457200" y="4160520"/>
            <a:ext cx="292608" cy="292608"/>
          </a:xfrm>
          <a:prstGeom prst="ellipse">
            <a:avLst/>
          </a:prstGeom>
          <a:solidFill>
            <a:srgbClr val="40916C"/>
          </a:solidFill>
          <a:ln w="12700">
            <a:solidFill>
              <a:srgbClr val="40916C"/>
            </a:solidFill>
            <a:prstDash val="solid"/>
          </a:ln>
        </p:spPr>
      </p:sp>
      <p:sp>
        <p:nvSpPr>
          <p:cNvPr id="28" name="Text 26"/>
          <p:cNvSpPr/>
          <p:nvPr/>
        </p:nvSpPr>
        <p:spPr>
          <a:xfrm>
            <a:off x="457200" y="41605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9" name="Text 27"/>
          <p:cNvSpPr/>
          <p:nvPr/>
        </p:nvSpPr>
        <p:spPr>
          <a:xfrm>
            <a:off x="841248" y="4114800"/>
            <a:ext cx="3547872" cy="27432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Created binary target</a:t>
            </a:r>
            <a:endParaRPr lang="en-US" sz="1250" dirty="0"/>
          </a:p>
        </p:txBody>
      </p:sp>
      <p:sp>
        <p:nvSpPr>
          <p:cNvPr id="30" name="Text 28"/>
          <p:cNvSpPr/>
          <p:nvPr/>
        </p:nvSpPr>
        <p:spPr>
          <a:xfrm>
            <a:off x="841248" y="4389120"/>
            <a:ext cx="3547872" cy="384048"/>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Converted Active: 'Y' = 1 (Active), 'N' = 0 (Inactive).</a:t>
            </a:r>
            <a:endParaRPr lang="en-US" sz="1100" dirty="0"/>
          </a:p>
        </p:txBody>
      </p:sp>
      <p:sp>
        <p:nvSpPr>
          <p:cNvPr id="31" name="Shape 29"/>
          <p:cNvSpPr/>
          <p:nvPr/>
        </p:nvSpPr>
        <p:spPr>
          <a:xfrm>
            <a:off x="4663440" y="804672"/>
            <a:ext cx="4160520" cy="406908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32" name="Shape 30"/>
          <p:cNvSpPr/>
          <p:nvPr/>
        </p:nvSpPr>
        <p:spPr>
          <a:xfrm>
            <a:off x="4663440" y="804672"/>
            <a:ext cx="4160520" cy="384048"/>
          </a:xfrm>
          <a:prstGeom prst="rect">
            <a:avLst/>
          </a:prstGeom>
          <a:solidFill>
            <a:srgbClr val="40916C"/>
          </a:solidFill>
          <a:ln w="12700">
            <a:solidFill>
              <a:srgbClr val="40916C"/>
            </a:solidFill>
            <a:prstDash val="solid"/>
          </a:ln>
        </p:spPr>
      </p:sp>
      <p:sp>
        <p:nvSpPr>
          <p:cNvPr id="33" name="Text 31"/>
          <p:cNvSpPr/>
          <p:nvPr/>
        </p:nvSpPr>
        <p:spPr>
          <a:xfrm>
            <a:off x="4754880" y="804672"/>
            <a:ext cx="397764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Engineered Features</a:t>
            </a:r>
            <a:endParaRPr lang="en-US" sz="1250" dirty="0"/>
          </a:p>
        </p:txBody>
      </p:sp>
      <p:sp>
        <p:nvSpPr>
          <p:cNvPr id="34" name="Shape 32"/>
          <p:cNvSpPr/>
          <p:nvPr/>
        </p:nvSpPr>
        <p:spPr>
          <a:xfrm>
            <a:off x="4754880" y="1344168"/>
            <a:ext cx="64008" cy="237744"/>
          </a:xfrm>
          <a:prstGeom prst="rect">
            <a:avLst/>
          </a:prstGeom>
          <a:solidFill>
            <a:srgbClr val="D4A017"/>
          </a:solidFill>
          <a:ln w="12700">
            <a:solidFill>
              <a:srgbClr val="D4A017"/>
            </a:solidFill>
            <a:prstDash val="solid"/>
          </a:ln>
        </p:spPr>
      </p:sp>
      <p:sp>
        <p:nvSpPr>
          <p:cNvPr id="35" name="Text 33"/>
          <p:cNvSpPr/>
          <p:nvPr/>
        </p:nvSpPr>
        <p:spPr>
          <a:xfrm>
            <a:off x="4892040" y="1298448"/>
            <a:ext cx="3840480" cy="256032"/>
          </a:xfrm>
          <a:prstGeom prst="rect">
            <a:avLst/>
          </a:prstGeom>
          <a:noFill/>
          <a:ln/>
        </p:spPr>
        <p:txBody>
          <a:bodyPr wrap="square" lIns="0" tIns="0" rIns="0" bIns="0" rtlCol="0" anchor="ctr"/>
          <a:lstStyle/>
          <a:p>
            <a:pPr indent="0" marL="0">
              <a:buNone/>
            </a:pPr>
            <a:r>
              <a:rPr lang="en-US" sz="1150" b="1" dirty="0">
                <a:solidFill>
                  <a:srgbClr val="1B4332"/>
                </a:solidFill>
                <a:latin typeface="Calibri" pitchFamily="34" charset="0"/>
                <a:ea typeface="Calibri" pitchFamily="34" charset="-122"/>
                <a:cs typeface="Calibri" pitchFamily="34" charset="-120"/>
              </a:rPr>
              <a:t>total_routes</a:t>
            </a:r>
            <a:endParaRPr lang="en-US" sz="1150" dirty="0"/>
          </a:p>
        </p:txBody>
      </p:sp>
      <p:sp>
        <p:nvSpPr>
          <p:cNvPr id="36" name="Text 34"/>
          <p:cNvSpPr/>
          <p:nvPr/>
        </p:nvSpPr>
        <p:spPr>
          <a:xfrm>
            <a:off x="4892040" y="1536192"/>
            <a:ext cx="3840480" cy="20116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Total routes flown by the airline</a:t>
            </a:r>
            <a:endParaRPr lang="en-US" sz="1050" dirty="0"/>
          </a:p>
        </p:txBody>
      </p:sp>
      <p:sp>
        <p:nvSpPr>
          <p:cNvPr id="37" name="Shape 35"/>
          <p:cNvSpPr/>
          <p:nvPr/>
        </p:nvSpPr>
        <p:spPr>
          <a:xfrm>
            <a:off x="4754880" y="1737360"/>
            <a:ext cx="64008" cy="237744"/>
          </a:xfrm>
          <a:prstGeom prst="rect">
            <a:avLst/>
          </a:prstGeom>
          <a:solidFill>
            <a:srgbClr val="D4A017"/>
          </a:solidFill>
          <a:ln w="12700">
            <a:solidFill>
              <a:srgbClr val="D4A017"/>
            </a:solidFill>
            <a:prstDash val="solid"/>
          </a:ln>
        </p:spPr>
      </p:sp>
      <p:sp>
        <p:nvSpPr>
          <p:cNvPr id="38" name="Text 36"/>
          <p:cNvSpPr/>
          <p:nvPr/>
        </p:nvSpPr>
        <p:spPr>
          <a:xfrm>
            <a:off x="4892040" y="1691640"/>
            <a:ext cx="3840480" cy="256032"/>
          </a:xfrm>
          <a:prstGeom prst="rect">
            <a:avLst/>
          </a:prstGeom>
          <a:noFill/>
          <a:ln/>
        </p:spPr>
        <p:txBody>
          <a:bodyPr wrap="square" lIns="0" tIns="0" rIns="0" bIns="0" rtlCol="0" anchor="ctr"/>
          <a:lstStyle/>
          <a:p>
            <a:pPr indent="0" marL="0">
              <a:buNone/>
            </a:pPr>
            <a:r>
              <a:rPr lang="en-US" sz="1150" b="1" dirty="0">
                <a:solidFill>
                  <a:srgbClr val="1B4332"/>
                </a:solidFill>
                <a:latin typeface="Calibri" pitchFamily="34" charset="0"/>
                <a:ea typeface="Calibri" pitchFamily="34" charset="-122"/>
                <a:cs typeface="Calibri" pitchFamily="34" charset="-120"/>
              </a:rPr>
              <a:t>unique_src / dst_airports</a:t>
            </a:r>
            <a:endParaRPr lang="en-US" sz="1150" dirty="0"/>
          </a:p>
        </p:txBody>
      </p:sp>
      <p:sp>
        <p:nvSpPr>
          <p:cNvPr id="39" name="Text 37"/>
          <p:cNvSpPr/>
          <p:nvPr/>
        </p:nvSpPr>
        <p:spPr>
          <a:xfrm>
            <a:off x="4892040" y="1929384"/>
            <a:ext cx="3840480" cy="20116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Unique departure &amp; destination airports</a:t>
            </a:r>
            <a:endParaRPr lang="en-US" sz="1050" dirty="0"/>
          </a:p>
        </p:txBody>
      </p:sp>
      <p:sp>
        <p:nvSpPr>
          <p:cNvPr id="40" name="Shape 38"/>
          <p:cNvSpPr/>
          <p:nvPr/>
        </p:nvSpPr>
        <p:spPr>
          <a:xfrm>
            <a:off x="4754880" y="2130552"/>
            <a:ext cx="64008" cy="237744"/>
          </a:xfrm>
          <a:prstGeom prst="rect">
            <a:avLst/>
          </a:prstGeom>
          <a:solidFill>
            <a:srgbClr val="D4A017"/>
          </a:solidFill>
          <a:ln w="12700">
            <a:solidFill>
              <a:srgbClr val="D4A017"/>
            </a:solidFill>
            <a:prstDash val="solid"/>
          </a:ln>
        </p:spPr>
      </p:sp>
      <p:sp>
        <p:nvSpPr>
          <p:cNvPr id="41" name="Text 39"/>
          <p:cNvSpPr/>
          <p:nvPr/>
        </p:nvSpPr>
        <p:spPr>
          <a:xfrm>
            <a:off x="4892040" y="2084832"/>
            <a:ext cx="3840480" cy="256032"/>
          </a:xfrm>
          <a:prstGeom prst="rect">
            <a:avLst/>
          </a:prstGeom>
          <a:noFill/>
          <a:ln/>
        </p:spPr>
        <p:txBody>
          <a:bodyPr wrap="square" lIns="0" tIns="0" rIns="0" bIns="0" rtlCol="0" anchor="ctr"/>
          <a:lstStyle/>
          <a:p>
            <a:pPr indent="0" marL="0">
              <a:buNone/>
            </a:pPr>
            <a:r>
              <a:rPr lang="en-US" sz="1150" b="1" dirty="0">
                <a:solidFill>
                  <a:srgbClr val="1B4332"/>
                </a:solidFill>
                <a:latin typeface="Calibri" pitchFamily="34" charset="0"/>
                <a:ea typeface="Calibri" pitchFamily="34" charset="-122"/>
                <a:cs typeface="Calibri" pitchFamily="34" charset="-120"/>
              </a:rPr>
              <a:t>network_breadth</a:t>
            </a:r>
            <a:endParaRPr lang="en-US" sz="1150" dirty="0"/>
          </a:p>
        </p:txBody>
      </p:sp>
      <p:sp>
        <p:nvSpPr>
          <p:cNvPr id="42" name="Text 40"/>
          <p:cNvSpPr/>
          <p:nvPr/>
        </p:nvSpPr>
        <p:spPr>
          <a:xfrm>
            <a:off x="4892040" y="2322576"/>
            <a:ext cx="3840480" cy="20116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Breadth of the airline's route network</a:t>
            </a:r>
            <a:endParaRPr lang="en-US" sz="1050" dirty="0"/>
          </a:p>
        </p:txBody>
      </p:sp>
      <p:sp>
        <p:nvSpPr>
          <p:cNvPr id="43" name="Shape 41"/>
          <p:cNvSpPr/>
          <p:nvPr/>
        </p:nvSpPr>
        <p:spPr>
          <a:xfrm>
            <a:off x="4754880" y="2523744"/>
            <a:ext cx="64008" cy="237744"/>
          </a:xfrm>
          <a:prstGeom prst="rect">
            <a:avLst/>
          </a:prstGeom>
          <a:solidFill>
            <a:srgbClr val="D4A017"/>
          </a:solidFill>
          <a:ln w="12700">
            <a:solidFill>
              <a:srgbClr val="D4A017"/>
            </a:solidFill>
            <a:prstDash val="solid"/>
          </a:ln>
        </p:spPr>
      </p:sp>
      <p:sp>
        <p:nvSpPr>
          <p:cNvPr id="44" name="Text 42"/>
          <p:cNvSpPr/>
          <p:nvPr/>
        </p:nvSpPr>
        <p:spPr>
          <a:xfrm>
            <a:off x="4892040" y="2478024"/>
            <a:ext cx="3840480" cy="256032"/>
          </a:xfrm>
          <a:prstGeom prst="rect">
            <a:avLst/>
          </a:prstGeom>
          <a:noFill/>
          <a:ln/>
        </p:spPr>
        <p:txBody>
          <a:bodyPr wrap="square" lIns="0" tIns="0" rIns="0" bIns="0" rtlCol="0" anchor="ctr"/>
          <a:lstStyle/>
          <a:p>
            <a:pPr indent="0" marL="0">
              <a:buNone/>
            </a:pPr>
            <a:r>
              <a:rPr lang="en-US" sz="1150" b="1" dirty="0">
                <a:solidFill>
                  <a:srgbClr val="1B4332"/>
                </a:solidFill>
                <a:latin typeface="Calibri" pitchFamily="34" charset="0"/>
                <a:ea typeface="Calibri" pitchFamily="34" charset="-122"/>
                <a:cs typeface="Calibri" pitchFamily="34" charset="-120"/>
              </a:rPr>
              <a:t>codeshare_ratio</a:t>
            </a:r>
            <a:endParaRPr lang="en-US" sz="1150" dirty="0"/>
          </a:p>
        </p:txBody>
      </p:sp>
      <p:sp>
        <p:nvSpPr>
          <p:cNvPr id="45" name="Text 43"/>
          <p:cNvSpPr/>
          <p:nvPr/>
        </p:nvSpPr>
        <p:spPr>
          <a:xfrm>
            <a:off x="4892040" y="2715768"/>
            <a:ext cx="3840480" cy="20116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Share of codeshare (partner) routes</a:t>
            </a:r>
            <a:endParaRPr lang="en-US" sz="1050" dirty="0"/>
          </a:p>
        </p:txBody>
      </p:sp>
      <p:sp>
        <p:nvSpPr>
          <p:cNvPr id="46" name="Shape 44"/>
          <p:cNvSpPr/>
          <p:nvPr/>
        </p:nvSpPr>
        <p:spPr>
          <a:xfrm>
            <a:off x="4754880" y="2916936"/>
            <a:ext cx="64008" cy="237744"/>
          </a:xfrm>
          <a:prstGeom prst="rect">
            <a:avLst/>
          </a:prstGeom>
          <a:solidFill>
            <a:srgbClr val="D4A017"/>
          </a:solidFill>
          <a:ln w="12700">
            <a:solidFill>
              <a:srgbClr val="D4A017"/>
            </a:solidFill>
            <a:prstDash val="solid"/>
          </a:ln>
        </p:spPr>
      </p:sp>
      <p:sp>
        <p:nvSpPr>
          <p:cNvPr id="47" name="Text 45"/>
          <p:cNvSpPr/>
          <p:nvPr/>
        </p:nvSpPr>
        <p:spPr>
          <a:xfrm>
            <a:off x="4892040" y="2871216"/>
            <a:ext cx="3840480" cy="256032"/>
          </a:xfrm>
          <a:prstGeom prst="rect">
            <a:avLst/>
          </a:prstGeom>
          <a:noFill/>
          <a:ln/>
        </p:spPr>
        <p:txBody>
          <a:bodyPr wrap="square" lIns="0" tIns="0" rIns="0" bIns="0" rtlCol="0" anchor="ctr"/>
          <a:lstStyle/>
          <a:p>
            <a:pPr indent="0" marL="0">
              <a:buNone/>
            </a:pPr>
            <a:r>
              <a:rPr lang="en-US" sz="1150" b="1" dirty="0">
                <a:solidFill>
                  <a:srgbClr val="1B4332"/>
                </a:solidFill>
                <a:latin typeface="Calibri" pitchFamily="34" charset="0"/>
                <a:ea typeface="Calibri" pitchFamily="34" charset="-122"/>
                <a:cs typeface="Calibri" pitchFamily="34" charset="-120"/>
              </a:rPr>
              <a:t>direct_ratio</a:t>
            </a:r>
            <a:endParaRPr lang="en-US" sz="1150" dirty="0"/>
          </a:p>
        </p:txBody>
      </p:sp>
      <p:sp>
        <p:nvSpPr>
          <p:cNvPr id="48" name="Text 46"/>
          <p:cNvSpPr/>
          <p:nvPr/>
        </p:nvSpPr>
        <p:spPr>
          <a:xfrm>
            <a:off x="4892040" y="3108960"/>
            <a:ext cx="3840480" cy="20116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Share of non-stop direct routes</a:t>
            </a:r>
            <a:endParaRPr lang="en-US" sz="1050" dirty="0"/>
          </a:p>
        </p:txBody>
      </p:sp>
      <p:sp>
        <p:nvSpPr>
          <p:cNvPr id="49" name="Shape 47"/>
          <p:cNvSpPr/>
          <p:nvPr/>
        </p:nvSpPr>
        <p:spPr>
          <a:xfrm>
            <a:off x="4754880" y="3310128"/>
            <a:ext cx="64008" cy="237744"/>
          </a:xfrm>
          <a:prstGeom prst="rect">
            <a:avLst/>
          </a:prstGeom>
          <a:solidFill>
            <a:srgbClr val="D4A017"/>
          </a:solidFill>
          <a:ln w="12700">
            <a:solidFill>
              <a:srgbClr val="D4A017"/>
            </a:solidFill>
            <a:prstDash val="solid"/>
          </a:ln>
        </p:spPr>
      </p:sp>
      <p:sp>
        <p:nvSpPr>
          <p:cNvPr id="50" name="Text 48"/>
          <p:cNvSpPr/>
          <p:nvPr/>
        </p:nvSpPr>
        <p:spPr>
          <a:xfrm>
            <a:off x="4892040" y="3264408"/>
            <a:ext cx="3840480" cy="256032"/>
          </a:xfrm>
          <a:prstGeom prst="rect">
            <a:avLst/>
          </a:prstGeom>
          <a:noFill/>
          <a:ln/>
        </p:spPr>
        <p:txBody>
          <a:bodyPr wrap="square" lIns="0" tIns="0" rIns="0" bIns="0" rtlCol="0" anchor="ctr"/>
          <a:lstStyle/>
          <a:p>
            <a:pPr indent="0" marL="0">
              <a:buNone/>
            </a:pPr>
            <a:r>
              <a:rPr lang="en-US" sz="1150" b="1" dirty="0">
                <a:solidFill>
                  <a:srgbClr val="1B4332"/>
                </a:solidFill>
                <a:latin typeface="Calibri" pitchFamily="34" charset="0"/>
                <a:ea typeface="Calibri" pitchFamily="34" charset="-122"/>
                <a:cs typeface="Calibri" pitchFamily="34" charset="-120"/>
              </a:rPr>
              <a:t>has_iata / has_icao / has_callsign</a:t>
            </a:r>
            <a:endParaRPr lang="en-US" sz="1150" dirty="0"/>
          </a:p>
        </p:txBody>
      </p:sp>
      <p:sp>
        <p:nvSpPr>
          <p:cNvPr id="51" name="Text 49"/>
          <p:cNvSpPr/>
          <p:nvPr/>
        </p:nvSpPr>
        <p:spPr>
          <a:xfrm>
            <a:off x="4892040" y="3502152"/>
            <a:ext cx="3840480" cy="20116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Binary: does the airline have this identifier?</a:t>
            </a:r>
            <a:endParaRPr lang="en-US" sz="1050" dirty="0"/>
          </a:p>
        </p:txBody>
      </p:sp>
      <p:sp>
        <p:nvSpPr>
          <p:cNvPr id="52" name="Shape 50"/>
          <p:cNvSpPr/>
          <p:nvPr/>
        </p:nvSpPr>
        <p:spPr>
          <a:xfrm>
            <a:off x="4754880" y="3703320"/>
            <a:ext cx="64008" cy="237744"/>
          </a:xfrm>
          <a:prstGeom prst="rect">
            <a:avLst/>
          </a:prstGeom>
          <a:solidFill>
            <a:srgbClr val="D4A017"/>
          </a:solidFill>
          <a:ln w="12700">
            <a:solidFill>
              <a:srgbClr val="D4A017"/>
            </a:solidFill>
            <a:prstDash val="solid"/>
          </a:ln>
        </p:spPr>
      </p:sp>
      <p:sp>
        <p:nvSpPr>
          <p:cNvPr id="53" name="Text 51"/>
          <p:cNvSpPr/>
          <p:nvPr/>
        </p:nvSpPr>
        <p:spPr>
          <a:xfrm>
            <a:off x="4892040" y="3657600"/>
            <a:ext cx="3840480" cy="256032"/>
          </a:xfrm>
          <a:prstGeom prst="rect">
            <a:avLst/>
          </a:prstGeom>
          <a:noFill/>
          <a:ln/>
        </p:spPr>
        <p:txBody>
          <a:bodyPr wrap="square" lIns="0" tIns="0" rIns="0" bIns="0" rtlCol="0" anchor="ctr"/>
          <a:lstStyle/>
          <a:p>
            <a:pPr indent="0" marL="0">
              <a:buNone/>
            </a:pPr>
            <a:r>
              <a:rPr lang="en-US" sz="1150" b="1" dirty="0">
                <a:solidFill>
                  <a:srgbClr val="1B4332"/>
                </a:solidFill>
                <a:latin typeface="Calibri" pitchFamily="34" charset="0"/>
                <a:ea typeface="Calibri" pitchFamily="34" charset="-122"/>
                <a:cs typeface="Calibri" pitchFamily="34" charset="-120"/>
              </a:rPr>
              <a:t>has_routes</a:t>
            </a:r>
            <a:endParaRPr lang="en-US" sz="1150" dirty="0"/>
          </a:p>
        </p:txBody>
      </p:sp>
      <p:sp>
        <p:nvSpPr>
          <p:cNvPr id="54" name="Text 52"/>
          <p:cNvSpPr/>
          <p:nvPr/>
        </p:nvSpPr>
        <p:spPr>
          <a:xfrm>
            <a:off x="4892040" y="3895344"/>
            <a:ext cx="3840480" cy="20116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Binary: does the airline operate any routes?</a:t>
            </a:r>
            <a:endParaRPr lang="en-US" sz="1050" dirty="0"/>
          </a:p>
        </p:txBody>
      </p:sp>
      <p:sp>
        <p:nvSpPr>
          <p:cNvPr id="55" name="Shape 53"/>
          <p:cNvSpPr/>
          <p:nvPr/>
        </p:nvSpPr>
        <p:spPr>
          <a:xfrm>
            <a:off x="4754880" y="4096512"/>
            <a:ext cx="64008" cy="237744"/>
          </a:xfrm>
          <a:prstGeom prst="rect">
            <a:avLst/>
          </a:prstGeom>
          <a:solidFill>
            <a:srgbClr val="D4A017"/>
          </a:solidFill>
          <a:ln w="12700">
            <a:solidFill>
              <a:srgbClr val="D4A017"/>
            </a:solidFill>
            <a:prstDash val="solid"/>
          </a:ln>
        </p:spPr>
      </p:sp>
      <p:sp>
        <p:nvSpPr>
          <p:cNvPr id="56" name="Text 54"/>
          <p:cNvSpPr/>
          <p:nvPr/>
        </p:nvSpPr>
        <p:spPr>
          <a:xfrm>
            <a:off x="4892040" y="4050792"/>
            <a:ext cx="3840480" cy="256032"/>
          </a:xfrm>
          <a:prstGeom prst="rect">
            <a:avLst/>
          </a:prstGeom>
          <a:noFill/>
          <a:ln/>
        </p:spPr>
        <p:txBody>
          <a:bodyPr wrap="square" lIns="0" tIns="0" rIns="0" bIns="0" rtlCol="0" anchor="ctr"/>
          <a:lstStyle/>
          <a:p>
            <a:pPr indent="0" marL="0">
              <a:buNone/>
            </a:pPr>
            <a:r>
              <a:rPr lang="en-US" sz="1150" b="1" dirty="0">
                <a:solidFill>
                  <a:srgbClr val="1B4332"/>
                </a:solidFill>
                <a:latin typeface="Calibri" pitchFamily="34" charset="0"/>
                <a:ea typeface="Calibri" pitchFamily="34" charset="-122"/>
                <a:cs typeface="Calibri" pitchFamily="34" charset="-120"/>
              </a:rPr>
              <a:t>country_active_rate</a:t>
            </a:r>
            <a:endParaRPr lang="en-US" sz="1150" dirty="0"/>
          </a:p>
        </p:txBody>
      </p:sp>
      <p:sp>
        <p:nvSpPr>
          <p:cNvPr id="57" name="Text 55"/>
          <p:cNvSpPr/>
          <p:nvPr/>
        </p:nvSpPr>
        <p:spPr>
          <a:xfrm>
            <a:off x="4892040" y="4288536"/>
            <a:ext cx="3840480" cy="20116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 of airlines in the same country that are active</a:t>
            </a:r>
            <a:endParaRPr lang="en-US" sz="1050" dirty="0"/>
          </a:p>
        </p:txBody>
      </p:sp>
      <p:sp>
        <p:nvSpPr>
          <p:cNvPr id="58" name="Shape 56"/>
          <p:cNvSpPr/>
          <p:nvPr/>
        </p:nvSpPr>
        <p:spPr>
          <a:xfrm>
            <a:off x="4754880" y="4489704"/>
            <a:ext cx="64008" cy="237744"/>
          </a:xfrm>
          <a:prstGeom prst="rect">
            <a:avLst/>
          </a:prstGeom>
          <a:solidFill>
            <a:srgbClr val="D4A017"/>
          </a:solidFill>
          <a:ln w="12700">
            <a:solidFill>
              <a:srgbClr val="D4A017"/>
            </a:solidFill>
            <a:prstDash val="solid"/>
          </a:ln>
        </p:spPr>
      </p:sp>
      <p:sp>
        <p:nvSpPr>
          <p:cNvPr id="59" name="Text 57"/>
          <p:cNvSpPr/>
          <p:nvPr/>
        </p:nvSpPr>
        <p:spPr>
          <a:xfrm>
            <a:off x="4892040" y="4443984"/>
            <a:ext cx="3840480" cy="256032"/>
          </a:xfrm>
          <a:prstGeom prst="rect">
            <a:avLst/>
          </a:prstGeom>
          <a:noFill/>
          <a:ln/>
        </p:spPr>
        <p:txBody>
          <a:bodyPr wrap="square" lIns="0" tIns="0" rIns="0" bIns="0" rtlCol="0" anchor="ctr"/>
          <a:lstStyle/>
          <a:p>
            <a:pPr indent="0" marL="0">
              <a:buNone/>
            </a:pPr>
            <a:r>
              <a:rPr lang="en-US" sz="1150" b="1" dirty="0">
                <a:solidFill>
                  <a:srgbClr val="1B4332"/>
                </a:solidFill>
                <a:latin typeface="Calibri" pitchFamily="34" charset="0"/>
                <a:ea typeface="Calibri" pitchFamily="34" charset="-122"/>
                <a:cs typeface="Calibri" pitchFamily="34" charset="-120"/>
              </a:rPr>
              <a:t>route_size_bucket</a:t>
            </a:r>
            <a:endParaRPr lang="en-US" sz="1150" dirty="0"/>
          </a:p>
        </p:txBody>
      </p:sp>
      <p:sp>
        <p:nvSpPr>
          <p:cNvPr id="60" name="Text 58"/>
          <p:cNvSpPr/>
          <p:nvPr/>
        </p:nvSpPr>
        <p:spPr>
          <a:xfrm>
            <a:off x="4892040" y="4681728"/>
            <a:ext cx="3840480" cy="20116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Route volume category (0 = none, 4 = large)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BF6"/>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4332"/>
          </a:solidFill>
          <a:ln w="12700">
            <a:solidFill>
              <a:srgbClr val="1B4332"/>
            </a:solidFill>
            <a:prstDash val="solid"/>
          </a:ln>
        </p:spPr>
      </p:sp>
      <p:sp>
        <p:nvSpPr>
          <p:cNvPr id="3" name="Shape 1"/>
          <p:cNvSpPr/>
          <p:nvPr/>
        </p:nvSpPr>
        <p:spPr>
          <a:xfrm>
            <a:off x="0" y="658368"/>
            <a:ext cx="9144000" cy="50292"/>
          </a:xfrm>
          <a:prstGeom prst="rect">
            <a:avLst/>
          </a:prstGeom>
          <a:solidFill>
            <a:srgbClr val="40916C"/>
          </a:solidFill>
          <a:ln w="12700">
            <a:solidFill>
              <a:srgbClr val="40916C"/>
            </a:solidFill>
            <a:prstDash val="solid"/>
          </a:ln>
        </p:spPr>
      </p:sp>
      <p:sp>
        <p:nvSpPr>
          <p:cNvPr id="4" name="Text 2"/>
          <p:cNvSpPr/>
          <p:nvPr/>
        </p:nvSpPr>
        <p:spPr>
          <a:xfrm>
            <a:off x="320040" y="64008"/>
            <a:ext cx="8503920" cy="53035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Exploratory Data Analysis (EDA)</a:t>
            </a:r>
            <a:endParaRPr lang="en-US" sz="2200" dirty="0"/>
          </a:p>
        </p:txBody>
      </p:sp>
      <p:sp>
        <p:nvSpPr>
          <p:cNvPr id="5" name="Text 3"/>
          <p:cNvSpPr/>
          <p:nvPr/>
        </p:nvSpPr>
        <p:spPr>
          <a:xfrm>
            <a:off x="320040" y="64008"/>
            <a:ext cx="8503920" cy="530352"/>
          </a:xfrm>
          <a:prstGeom prst="rect">
            <a:avLst/>
          </a:prstGeom>
          <a:noFill/>
          <a:ln/>
        </p:spPr>
        <p:txBody>
          <a:bodyPr wrap="square" lIns="0" tIns="0" rIns="0" bIns="0" rtlCol="0" anchor="b"/>
          <a:lstStyle/>
          <a:p>
            <a:pPr algn="r" indent="0" marL="0">
              <a:buNone/>
            </a:pPr>
            <a:r>
              <a:rPr lang="en-US" sz="1100" dirty="0">
                <a:solidFill>
                  <a:srgbClr val="95D5B2"/>
                </a:solidFill>
                <a:latin typeface="Calibri" pitchFamily="34" charset="0"/>
                <a:ea typeface="Calibri" pitchFamily="34" charset="-122"/>
                <a:cs typeface="Calibri" pitchFamily="34" charset="-120"/>
              </a:rPr>
              <a:t>Understanding the data before modeling</a:t>
            </a:r>
            <a:endParaRPr lang="en-US" sz="1100" dirty="0"/>
          </a:p>
        </p:txBody>
      </p:sp>
      <p:sp>
        <p:nvSpPr>
          <p:cNvPr id="6" name="Shape 4"/>
          <p:cNvSpPr/>
          <p:nvPr/>
        </p:nvSpPr>
        <p:spPr>
          <a:xfrm>
            <a:off x="0" y="4983480"/>
            <a:ext cx="9144000" cy="160020"/>
          </a:xfrm>
          <a:prstGeom prst="rect">
            <a:avLst/>
          </a:prstGeom>
          <a:solidFill>
            <a:srgbClr val="1B4332"/>
          </a:solidFill>
          <a:ln w="12700">
            <a:solidFill>
              <a:srgbClr val="1B4332"/>
            </a:solidFill>
            <a:prstDash val="solid"/>
          </a:ln>
        </p:spPr>
      </p:sp>
      <p:sp>
        <p:nvSpPr>
          <p:cNvPr id="7" name="Text 5"/>
          <p:cNvSpPr/>
          <p:nvPr/>
        </p:nvSpPr>
        <p:spPr>
          <a:xfrm>
            <a:off x="274320" y="4983480"/>
            <a:ext cx="8595360" cy="160020"/>
          </a:xfrm>
          <a:prstGeom prst="rect">
            <a:avLst/>
          </a:prstGeom>
          <a:noFill/>
          <a:ln/>
        </p:spPr>
        <p:txBody>
          <a:bodyPr wrap="square" lIns="0" tIns="0" rIns="0" bIns="0" rtlCol="0" anchor="ctr"/>
          <a:lstStyle/>
          <a:p>
            <a:pPr indent="0" marL="0">
              <a:buNone/>
            </a:pPr>
            <a:r>
              <a:rPr lang="en-US" sz="800" dirty="0">
                <a:solidFill>
                  <a:srgbClr val="74C69D"/>
                </a:solidFill>
                <a:latin typeface="Calibri" pitchFamily="34" charset="0"/>
                <a:ea typeface="Calibri" pitchFamily="34" charset="-122"/>
                <a:cs typeface="Calibri" pitchFamily="34" charset="-120"/>
              </a:rPr>
              <a:t>DSAI 4103 – Business Analytics  |  Airline Activity Prediction</a:t>
            </a:r>
            <a:endParaRPr lang="en-US" sz="800" dirty="0"/>
          </a:p>
        </p:txBody>
      </p:sp>
      <p:sp>
        <p:nvSpPr>
          <p:cNvPr id="8" name="Shape 6"/>
          <p:cNvSpPr/>
          <p:nvPr/>
        </p:nvSpPr>
        <p:spPr>
          <a:xfrm>
            <a:off x="320040" y="804672"/>
            <a:ext cx="4160520" cy="192024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pic>
        <p:nvPicPr>
          <p:cNvPr id="9" name="Image 0" descr="/sessions/relaxed-ecstatic-pascal/mnt/Finalllll V/Powerbi_exports/fig_target_distribution.png">    </p:cNvPr>
          <p:cNvPicPr>
            <a:picLocks noChangeAspect="1"/>
          </p:cNvPicPr>
          <p:nvPr/>
        </p:nvPicPr>
        <p:blipFill>
          <a:blip r:embed="rId1"/>
          <a:stretch>
            <a:fillRect/>
          </a:stretch>
        </p:blipFill>
        <p:spPr>
          <a:xfrm>
            <a:off x="393192" y="1152144"/>
            <a:ext cx="4014216" cy="1481328"/>
          </a:xfrm>
          <a:prstGeom prst="rect">
            <a:avLst/>
          </a:prstGeom>
        </p:spPr>
      </p:pic>
      <p:sp>
        <p:nvSpPr>
          <p:cNvPr id="10" name="Shape 7"/>
          <p:cNvSpPr/>
          <p:nvPr/>
        </p:nvSpPr>
        <p:spPr>
          <a:xfrm>
            <a:off x="320040" y="804672"/>
            <a:ext cx="4160520" cy="310896"/>
          </a:xfrm>
          <a:prstGeom prst="rect">
            <a:avLst/>
          </a:prstGeom>
          <a:solidFill>
            <a:srgbClr val="1B4332"/>
          </a:solidFill>
          <a:ln w="12700">
            <a:solidFill>
              <a:srgbClr val="1B4332"/>
            </a:solidFill>
            <a:prstDash val="solid"/>
          </a:ln>
        </p:spPr>
      </p:sp>
      <p:sp>
        <p:nvSpPr>
          <p:cNvPr id="11" name="Text 8"/>
          <p:cNvSpPr/>
          <p:nvPr/>
        </p:nvSpPr>
        <p:spPr>
          <a:xfrm>
            <a:off x="411480" y="804672"/>
            <a:ext cx="397764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Active vs Inactive Distribution</a:t>
            </a:r>
            <a:endParaRPr lang="en-US" sz="1050" dirty="0"/>
          </a:p>
        </p:txBody>
      </p:sp>
      <p:sp>
        <p:nvSpPr>
          <p:cNvPr id="12" name="Shape 9"/>
          <p:cNvSpPr/>
          <p:nvPr/>
        </p:nvSpPr>
        <p:spPr>
          <a:xfrm>
            <a:off x="4709160" y="804672"/>
            <a:ext cx="4160520" cy="192024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pic>
        <p:nvPicPr>
          <p:cNvPr id="13" name="Image 1" descr="/sessions/relaxed-ecstatic-pascal/mnt/Finalllll V/Powerbi_exports/fig_top_countries.png">    </p:cNvPr>
          <p:cNvPicPr>
            <a:picLocks noChangeAspect="1"/>
          </p:cNvPicPr>
          <p:nvPr/>
        </p:nvPicPr>
        <p:blipFill>
          <a:blip r:embed="rId2"/>
          <a:stretch>
            <a:fillRect/>
          </a:stretch>
        </p:blipFill>
        <p:spPr>
          <a:xfrm>
            <a:off x="4782312" y="1152144"/>
            <a:ext cx="4014216" cy="1481328"/>
          </a:xfrm>
          <a:prstGeom prst="rect">
            <a:avLst/>
          </a:prstGeom>
        </p:spPr>
      </p:pic>
      <p:sp>
        <p:nvSpPr>
          <p:cNvPr id="14" name="Shape 10"/>
          <p:cNvSpPr/>
          <p:nvPr/>
        </p:nvSpPr>
        <p:spPr>
          <a:xfrm>
            <a:off x="4709160" y="804672"/>
            <a:ext cx="4160520" cy="310896"/>
          </a:xfrm>
          <a:prstGeom prst="rect">
            <a:avLst/>
          </a:prstGeom>
          <a:solidFill>
            <a:srgbClr val="1B4332"/>
          </a:solidFill>
          <a:ln w="12700">
            <a:solidFill>
              <a:srgbClr val="1B4332"/>
            </a:solidFill>
            <a:prstDash val="solid"/>
          </a:ln>
        </p:spPr>
      </p:sp>
      <p:sp>
        <p:nvSpPr>
          <p:cNvPr id="15" name="Text 11"/>
          <p:cNvSpPr/>
          <p:nvPr/>
        </p:nvSpPr>
        <p:spPr>
          <a:xfrm>
            <a:off x="4800600" y="804672"/>
            <a:ext cx="397764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Top Countries by Airline Count</a:t>
            </a:r>
            <a:endParaRPr lang="en-US" sz="1050" dirty="0"/>
          </a:p>
        </p:txBody>
      </p:sp>
      <p:sp>
        <p:nvSpPr>
          <p:cNvPr id="16" name="Shape 12"/>
          <p:cNvSpPr/>
          <p:nvPr/>
        </p:nvSpPr>
        <p:spPr>
          <a:xfrm>
            <a:off x="320040" y="2852928"/>
            <a:ext cx="4160520" cy="192024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pic>
        <p:nvPicPr>
          <p:cNvPr id="17" name="Image 2" descr="/sessions/relaxed-ecstatic-pascal/mnt/Finalllll V/Powerbi_exports/fig_top_airlines_routes.png">    </p:cNvPr>
          <p:cNvPicPr>
            <a:picLocks noChangeAspect="1"/>
          </p:cNvPicPr>
          <p:nvPr/>
        </p:nvPicPr>
        <p:blipFill>
          <a:blip r:embed="rId3"/>
          <a:stretch>
            <a:fillRect/>
          </a:stretch>
        </p:blipFill>
        <p:spPr>
          <a:xfrm>
            <a:off x="393192" y="3200400"/>
            <a:ext cx="4014216" cy="1481328"/>
          </a:xfrm>
          <a:prstGeom prst="rect">
            <a:avLst/>
          </a:prstGeom>
        </p:spPr>
      </p:pic>
      <p:sp>
        <p:nvSpPr>
          <p:cNvPr id="18" name="Shape 13"/>
          <p:cNvSpPr/>
          <p:nvPr/>
        </p:nvSpPr>
        <p:spPr>
          <a:xfrm>
            <a:off x="320040" y="2852928"/>
            <a:ext cx="4160520" cy="310896"/>
          </a:xfrm>
          <a:prstGeom prst="rect">
            <a:avLst/>
          </a:prstGeom>
          <a:solidFill>
            <a:srgbClr val="1B4332"/>
          </a:solidFill>
          <a:ln w="12700">
            <a:solidFill>
              <a:srgbClr val="1B4332"/>
            </a:solidFill>
            <a:prstDash val="solid"/>
          </a:ln>
        </p:spPr>
      </p:sp>
      <p:sp>
        <p:nvSpPr>
          <p:cNvPr id="19" name="Text 14"/>
          <p:cNvSpPr/>
          <p:nvPr/>
        </p:nvSpPr>
        <p:spPr>
          <a:xfrm>
            <a:off x="411480" y="2852928"/>
            <a:ext cx="397764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Top 10 Airlines by Route Count</a:t>
            </a:r>
            <a:endParaRPr lang="en-US" sz="1050" dirty="0"/>
          </a:p>
        </p:txBody>
      </p:sp>
      <p:sp>
        <p:nvSpPr>
          <p:cNvPr id="20" name="Shape 15"/>
          <p:cNvSpPr/>
          <p:nvPr/>
        </p:nvSpPr>
        <p:spPr>
          <a:xfrm>
            <a:off x="4709160" y="2852928"/>
            <a:ext cx="4160520" cy="192024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pic>
        <p:nvPicPr>
          <p:cNvPr id="21" name="Image 3" descr="/sessions/relaxed-ecstatic-pascal/mnt/Finalllll V/Powerbi_exports/fig_correlation_heatmap.png">    </p:cNvPr>
          <p:cNvPicPr>
            <a:picLocks noChangeAspect="1"/>
          </p:cNvPicPr>
          <p:nvPr/>
        </p:nvPicPr>
        <p:blipFill>
          <a:blip r:embed="rId4"/>
          <a:stretch>
            <a:fillRect/>
          </a:stretch>
        </p:blipFill>
        <p:spPr>
          <a:xfrm>
            <a:off x="4782312" y="3200400"/>
            <a:ext cx="4014216" cy="1481328"/>
          </a:xfrm>
          <a:prstGeom prst="rect">
            <a:avLst/>
          </a:prstGeom>
        </p:spPr>
      </p:pic>
      <p:sp>
        <p:nvSpPr>
          <p:cNvPr id="22" name="Shape 16"/>
          <p:cNvSpPr/>
          <p:nvPr/>
        </p:nvSpPr>
        <p:spPr>
          <a:xfrm>
            <a:off x="4709160" y="2852928"/>
            <a:ext cx="4160520" cy="310896"/>
          </a:xfrm>
          <a:prstGeom prst="rect">
            <a:avLst/>
          </a:prstGeom>
          <a:solidFill>
            <a:srgbClr val="1B4332"/>
          </a:solidFill>
          <a:ln w="12700">
            <a:solidFill>
              <a:srgbClr val="1B4332"/>
            </a:solidFill>
            <a:prstDash val="solid"/>
          </a:ln>
        </p:spPr>
      </p:sp>
      <p:sp>
        <p:nvSpPr>
          <p:cNvPr id="23" name="Text 17"/>
          <p:cNvSpPr/>
          <p:nvPr/>
        </p:nvSpPr>
        <p:spPr>
          <a:xfrm>
            <a:off x="4800600" y="2852928"/>
            <a:ext cx="397764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Feature Correlation Heatmap</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BF6"/>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4332"/>
          </a:solidFill>
          <a:ln w="12700">
            <a:solidFill>
              <a:srgbClr val="1B4332"/>
            </a:solidFill>
            <a:prstDash val="solid"/>
          </a:ln>
        </p:spPr>
      </p:sp>
      <p:sp>
        <p:nvSpPr>
          <p:cNvPr id="3" name="Shape 1"/>
          <p:cNvSpPr/>
          <p:nvPr/>
        </p:nvSpPr>
        <p:spPr>
          <a:xfrm>
            <a:off x="0" y="658368"/>
            <a:ext cx="9144000" cy="50292"/>
          </a:xfrm>
          <a:prstGeom prst="rect">
            <a:avLst/>
          </a:prstGeom>
          <a:solidFill>
            <a:srgbClr val="40916C"/>
          </a:solidFill>
          <a:ln w="12700">
            <a:solidFill>
              <a:srgbClr val="40916C"/>
            </a:solidFill>
            <a:prstDash val="solid"/>
          </a:ln>
        </p:spPr>
      </p:sp>
      <p:sp>
        <p:nvSpPr>
          <p:cNvPr id="4" name="Text 2"/>
          <p:cNvSpPr/>
          <p:nvPr/>
        </p:nvSpPr>
        <p:spPr>
          <a:xfrm>
            <a:off x="320040" y="64008"/>
            <a:ext cx="8503920" cy="53035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Key Insights from Data</a:t>
            </a:r>
            <a:endParaRPr lang="en-US" sz="2200" dirty="0"/>
          </a:p>
        </p:txBody>
      </p:sp>
      <p:sp>
        <p:nvSpPr>
          <p:cNvPr id="5" name="Text 3"/>
          <p:cNvSpPr/>
          <p:nvPr/>
        </p:nvSpPr>
        <p:spPr>
          <a:xfrm>
            <a:off x="320040" y="64008"/>
            <a:ext cx="8503920" cy="530352"/>
          </a:xfrm>
          <a:prstGeom prst="rect">
            <a:avLst/>
          </a:prstGeom>
          <a:noFill/>
          <a:ln/>
        </p:spPr>
        <p:txBody>
          <a:bodyPr wrap="square" lIns="0" tIns="0" rIns="0" bIns="0" rtlCol="0" anchor="b"/>
          <a:lstStyle/>
          <a:p>
            <a:pPr algn="r" indent="0" marL="0">
              <a:buNone/>
            </a:pPr>
            <a:r>
              <a:rPr lang="en-US" sz="1100" dirty="0">
                <a:solidFill>
                  <a:srgbClr val="95D5B2"/>
                </a:solidFill>
                <a:latin typeface="Calibri" pitchFamily="34" charset="0"/>
                <a:ea typeface="Calibri" pitchFamily="34" charset="-122"/>
                <a:cs typeface="Calibri" pitchFamily="34" charset="-120"/>
              </a:rPr>
              <a:t>What the data tells us</a:t>
            </a:r>
            <a:endParaRPr lang="en-US" sz="1100" dirty="0"/>
          </a:p>
        </p:txBody>
      </p:sp>
      <p:sp>
        <p:nvSpPr>
          <p:cNvPr id="6" name="Shape 4"/>
          <p:cNvSpPr/>
          <p:nvPr/>
        </p:nvSpPr>
        <p:spPr>
          <a:xfrm>
            <a:off x="0" y="4983480"/>
            <a:ext cx="9144000" cy="160020"/>
          </a:xfrm>
          <a:prstGeom prst="rect">
            <a:avLst/>
          </a:prstGeom>
          <a:solidFill>
            <a:srgbClr val="1B4332"/>
          </a:solidFill>
          <a:ln w="12700">
            <a:solidFill>
              <a:srgbClr val="1B4332"/>
            </a:solidFill>
            <a:prstDash val="solid"/>
          </a:ln>
        </p:spPr>
      </p:sp>
      <p:sp>
        <p:nvSpPr>
          <p:cNvPr id="7" name="Text 5"/>
          <p:cNvSpPr/>
          <p:nvPr/>
        </p:nvSpPr>
        <p:spPr>
          <a:xfrm>
            <a:off x="274320" y="4983480"/>
            <a:ext cx="8595360" cy="160020"/>
          </a:xfrm>
          <a:prstGeom prst="rect">
            <a:avLst/>
          </a:prstGeom>
          <a:noFill/>
          <a:ln/>
        </p:spPr>
        <p:txBody>
          <a:bodyPr wrap="square" lIns="0" tIns="0" rIns="0" bIns="0" rtlCol="0" anchor="ctr"/>
          <a:lstStyle/>
          <a:p>
            <a:pPr indent="0" marL="0">
              <a:buNone/>
            </a:pPr>
            <a:r>
              <a:rPr lang="en-US" sz="800" dirty="0">
                <a:solidFill>
                  <a:srgbClr val="74C69D"/>
                </a:solidFill>
                <a:latin typeface="Calibri" pitchFamily="34" charset="0"/>
                <a:ea typeface="Calibri" pitchFamily="34" charset="-122"/>
                <a:cs typeface="Calibri" pitchFamily="34" charset="-120"/>
              </a:rPr>
              <a:t>DSAI 4103 – Business Analytics  |  Airline Activity Prediction</a:t>
            </a:r>
            <a:endParaRPr lang="en-US" sz="800" dirty="0"/>
          </a:p>
        </p:txBody>
      </p:sp>
      <p:sp>
        <p:nvSpPr>
          <p:cNvPr id="8" name="Shape 6"/>
          <p:cNvSpPr/>
          <p:nvPr/>
        </p:nvSpPr>
        <p:spPr>
          <a:xfrm>
            <a:off x="320040" y="822960"/>
            <a:ext cx="2697480" cy="178308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320040" y="822960"/>
            <a:ext cx="2697480" cy="54864"/>
          </a:xfrm>
          <a:prstGeom prst="rect">
            <a:avLst/>
          </a:prstGeom>
          <a:solidFill>
            <a:srgbClr val="DC2626"/>
          </a:solidFill>
          <a:ln w="12700">
            <a:solidFill>
              <a:srgbClr val="DC2626"/>
            </a:solidFill>
            <a:prstDash val="solid"/>
          </a:ln>
        </p:spPr>
      </p:sp>
      <p:sp>
        <p:nvSpPr>
          <p:cNvPr id="10" name="Text 8"/>
          <p:cNvSpPr/>
          <p:nvPr/>
        </p:nvSpPr>
        <p:spPr>
          <a:xfrm>
            <a:off x="457200" y="932688"/>
            <a:ext cx="2423160" cy="457200"/>
          </a:xfrm>
          <a:prstGeom prst="rect">
            <a:avLst/>
          </a:prstGeom>
          <a:noFill/>
          <a:ln/>
        </p:spPr>
        <p:txBody>
          <a:bodyPr wrap="square" lIns="0" tIns="0" rIns="0" bIns="0" rtlCol="0" anchor="ctr"/>
          <a:lstStyle/>
          <a:p>
            <a:pPr algn="ctr" indent="0" marL="0">
              <a:buNone/>
            </a:pPr>
            <a:r>
              <a:rPr lang="en-US" sz="2000" b="1" dirty="0">
                <a:solidFill>
                  <a:srgbClr val="DC2626"/>
                </a:solidFill>
                <a:latin typeface="Calibri" pitchFamily="34" charset="0"/>
                <a:ea typeface="Calibri" pitchFamily="34" charset="-122"/>
                <a:cs typeface="Calibri" pitchFamily="34" charset="-120"/>
              </a:rPr>
              <a:t>79.7%</a:t>
            </a:r>
            <a:endParaRPr lang="en-US" sz="2000" dirty="0"/>
          </a:p>
        </p:txBody>
      </p:sp>
      <p:sp>
        <p:nvSpPr>
          <p:cNvPr id="11" name="Text 9"/>
          <p:cNvSpPr/>
          <p:nvPr/>
        </p:nvSpPr>
        <p:spPr>
          <a:xfrm>
            <a:off x="411480" y="1371600"/>
            <a:ext cx="2514600" cy="27432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of airlines are inactive</a:t>
            </a:r>
            <a:endParaRPr lang="en-US" sz="1100" dirty="0"/>
          </a:p>
        </p:txBody>
      </p:sp>
      <p:sp>
        <p:nvSpPr>
          <p:cNvPr id="12" name="Shape 10"/>
          <p:cNvSpPr/>
          <p:nvPr/>
        </p:nvSpPr>
        <p:spPr>
          <a:xfrm>
            <a:off x="640080" y="1664208"/>
            <a:ext cx="2057400" cy="36576"/>
          </a:xfrm>
          <a:prstGeom prst="rect">
            <a:avLst/>
          </a:prstGeom>
          <a:solidFill>
            <a:srgbClr val="CBD5E1"/>
          </a:solidFill>
          <a:ln w="12700">
            <a:solidFill>
              <a:srgbClr val="CBD5E1"/>
            </a:solidFill>
            <a:prstDash val="solid"/>
          </a:ln>
        </p:spPr>
      </p:sp>
      <p:sp>
        <p:nvSpPr>
          <p:cNvPr id="13" name="Text 11"/>
          <p:cNvSpPr/>
          <p:nvPr/>
        </p:nvSpPr>
        <p:spPr>
          <a:xfrm>
            <a:off x="411480" y="1737360"/>
            <a:ext cx="2514600" cy="804672"/>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Only 1,254 out of 6,161 airlines (20.3%) are active — the dataset is heavily imbalanced.</a:t>
            </a:r>
            <a:endParaRPr lang="en-US" sz="950" dirty="0"/>
          </a:p>
        </p:txBody>
      </p:sp>
      <p:sp>
        <p:nvSpPr>
          <p:cNvPr id="14" name="Shape 12"/>
          <p:cNvSpPr/>
          <p:nvPr/>
        </p:nvSpPr>
        <p:spPr>
          <a:xfrm>
            <a:off x="3172968" y="822960"/>
            <a:ext cx="2697480" cy="178308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15" name="Shape 13"/>
          <p:cNvSpPr/>
          <p:nvPr/>
        </p:nvSpPr>
        <p:spPr>
          <a:xfrm>
            <a:off x="3172968" y="822960"/>
            <a:ext cx="2697480" cy="54864"/>
          </a:xfrm>
          <a:prstGeom prst="rect">
            <a:avLst/>
          </a:prstGeom>
          <a:solidFill>
            <a:srgbClr val="40916C"/>
          </a:solidFill>
          <a:ln w="12700">
            <a:solidFill>
              <a:srgbClr val="40916C"/>
            </a:solidFill>
            <a:prstDash val="solid"/>
          </a:ln>
        </p:spPr>
      </p:sp>
      <p:sp>
        <p:nvSpPr>
          <p:cNvPr id="16" name="Text 14"/>
          <p:cNvSpPr/>
          <p:nvPr/>
        </p:nvSpPr>
        <p:spPr>
          <a:xfrm>
            <a:off x="3310128" y="932688"/>
            <a:ext cx="2423160" cy="457200"/>
          </a:xfrm>
          <a:prstGeom prst="rect">
            <a:avLst/>
          </a:prstGeom>
          <a:noFill/>
          <a:ln/>
        </p:spPr>
        <p:txBody>
          <a:bodyPr wrap="square" lIns="0" tIns="0" rIns="0" bIns="0" rtlCol="0" anchor="ctr"/>
          <a:lstStyle/>
          <a:p>
            <a:pPr algn="ctr" indent="0" marL="0">
              <a:buNone/>
            </a:pPr>
            <a:r>
              <a:rPr lang="en-US" sz="2000" b="1" dirty="0">
                <a:solidFill>
                  <a:srgbClr val="40916C"/>
                </a:solidFill>
                <a:latin typeface="Calibri" pitchFamily="34" charset="0"/>
                <a:ea typeface="Calibri" pitchFamily="34" charset="-122"/>
                <a:cs typeface="Calibri" pitchFamily="34" charset="-120"/>
              </a:rPr>
              <a:t>Routes = Life</a:t>
            </a:r>
            <a:endParaRPr lang="en-US" sz="2000" dirty="0"/>
          </a:p>
        </p:txBody>
      </p:sp>
      <p:sp>
        <p:nvSpPr>
          <p:cNvPr id="17" name="Text 15"/>
          <p:cNvSpPr/>
          <p:nvPr/>
        </p:nvSpPr>
        <p:spPr>
          <a:xfrm>
            <a:off x="3264408" y="1371600"/>
            <a:ext cx="2514600" cy="27432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Active airlines have routes</a:t>
            </a:r>
            <a:endParaRPr lang="en-US" sz="1100" dirty="0"/>
          </a:p>
        </p:txBody>
      </p:sp>
      <p:sp>
        <p:nvSpPr>
          <p:cNvPr id="18" name="Shape 16"/>
          <p:cNvSpPr/>
          <p:nvPr/>
        </p:nvSpPr>
        <p:spPr>
          <a:xfrm>
            <a:off x="3493008" y="1664208"/>
            <a:ext cx="2057400" cy="36576"/>
          </a:xfrm>
          <a:prstGeom prst="rect">
            <a:avLst/>
          </a:prstGeom>
          <a:solidFill>
            <a:srgbClr val="CBD5E1"/>
          </a:solidFill>
          <a:ln w="12700">
            <a:solidFill>
              <a:srgbClr val="CBD5E1"/>
            </a:solidFill>
            <a:prstDash val="solid"/>
          </a:ln>
        </p:spPr>
      </p:sp>
      <p:sp>
        <p:nvSpPr>
          <p:cNvPr id="19" name="Text 17"/>
          <p:cNvSpPr/>
          <p:nvPr/>
        </p:nvSpPr>
        <p:spPr>
          <a:xfrm>
            <a:off x="3264408" y="1737360"/>
            <a:ext cx="2514600" cy="804672"/>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Almost all active airlines have at least 1 route. Airlines with zero routes are nearly always inactive.</a:t>
            </a:r>
            <a:endParaRPr lang="en-US" sz="950" dirty="0"/>
          </a:p>
        </p:txBody>
      </p:sp>
      <p:sp>
        <p:nvSpPr>
          <p:cNvPr id="20" name="Shape 18"/>
          <p:cNvSpPr/>
          <p:nvPr/>
        </p:nvSpPr>
        <p:spPr>
          <a:xfrm>
            <a:off x="6025896" y="822960"/>
            <a:ext cx="2697480" cy="178308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21" name="Shape 19"/>
          <p:cNvSpPr/>
          <p:nvPr/>
        </p:nvSpPr>
        <p:spPr>
          <a:xfrm>
            <a:off x="6025896" y="822960"/>
            <a:ext cx="2697480" cy="54864"/>
          </a:xfrm>
          <a:prstGeom prst="rect">
            <a:avLst/>
          </a:prstGeom>
          <a:solidFill>
            <a:srgbClr val="D4A017"/>
          </a:solidFill>
          <a:ln w="12700">
            <a:solidFill>
              <a:srgbClr val="D4A017"/>
            </a:solidFill>
            <a:prstDash val="solid"/>
          </a:ln>
        </p:spPr>
      </p:sp>
      <p:sp>
        <p:nvSpPr>
          <p:cNvPr id="22" name="Text 20"/>
          <p:cNvSpPr/>
          <p:nvPr/>
        </p:nvSpPr>
        <p:spPr>
          <a:xfrm>
            <a:off x="6163056" y="932688"/>
            <a:ext cx="2423160" cy="457200"/>
          </a:xfrm>
          <a:prstGeom prst="rect">
            <a:avLst/>
          </a:prstGeom>
          <a:noFill/>
          <a:ln/>
        </p:spPr>
        <p:txBody>
          <a:bodyPr wrap="square" lIns="0" tIns="0" rIns="0" bIns="0" rtlCol="0" anchor="ctr"/>
          <a:lstStyle/>
          <a:p>
            <a:pPr algn="ctr" indent="0" marL="0">
              <a:buNone/>
            </a:pPr>
            <a:r>
              <a:rPr lang="en-US" sz="2000" b="1" dirty="0">
                <a:solidFill>
                  <a:srgbClr val="D4A017"/>
                </a:solidFill>
                <a:latin typeface="Calibri" pitchFamily="34" charset="0"/>
                <a:ea typeface="Calibri" pitchFamily="34" charset="-122"/>
                <a:cs typeface="Calibri" pitchFamily="34" charset="-120"/>
              </a:rPr>
              <a:t>IATA Code</a:t>
            </a:r>
            <a:endParaRPr lang="en-US" sz="2000" dirty="0"/>
          </a:p>
        </p:txBody>
      </p:sp>
      <p:sp>
        <p:nvSpPr>
          <p:cNvPr id="23" name="Text 21"/>
          <p:cNvSpPr/>
          <p:nvPr/>
        </p:nvSpPr>
        <p:spPr>
          <a:xfrm>
            <a:off x="6117336" y="1371600"/>
            <a:ext cx="2514600" cy="27432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Strongest single predictor</a:t>
            </a:r>
            <a:endParaRPr lang="en-US" sz="1100" dirty="0"/>
          </a:p>
        </p:txBody>
      </p:sp>
      <p:sp>
        <p:nvSpPr>
          <p:cNvPr id="24" name="Shape 22"/>
          <p:cNvSpPr/>
          <p:nvPr/>
        </p:nvSpPr>
        <p:spPr>
          <a:xfrm>
            <a:off x="6345936" y="1664208"/>
            <a:ext cx="2057400" cy="36576"/>
          </a:xfrm>
          <a:prstGeom prst="rect">
            <a:avLst/>
          </a:prstGeom>
          <a:solidFill>
            <a:srgbClr val="CBD5E1"/>
          </a:solidFill>
          <a:ln w="12700">
            <a:solidFill>
              <a:srgbClr val="CBD5E1"/>
            </a:solidFill>
            <a:prstDash val="solid"/>
          </a:ln>
        </p:spPr>
      </p:sp>
      <p:sp>
        <p:nvSpPr>
          <p:cNvPr id="25" name="Text 23"/>
          <p:cNvSpPr/>
          <p:nvPr/>
        </p:nvSpPr>
        <p:spPr>
          <a:xfrm>
            <a:off x="6117336" y="1737360"/>
            <a:ext cx="2514600" cy="804672"/>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Airlines with a valid IATA code are far more likely to be active than those without one.</a:t>
            </a:r>
            <a:endParaRPr lang="en-US" sz="950" dirty="0"/>
          </a:p>
        </p:txBody>
      </p:sp>
      <p:sp>
        <p:nvSpPr>
          <p:cNvPr id="26" name="Shape 24"/>
          <p:cNvSpPr/>
          <p:nvPr/>
        </p:nvSpPr>
        <p:spPr>
          <a:xfrm>
            <a:off x="320040" y="2743200"/>
            <a:ext cx="2697480" cy="178308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27" name="Shape 25"/>
          <p:cNvSpPr/>
          <p:nvPr/>
        </p:nvSpPr>
        <p:spPr>
          <a:xfrm>
            <a:off x="320040" y="2743200"/>
            <a:ext cx="2697480" cy="54864"/>
          </a:xfrm>
          <a:prstGeom prst="rect">
            <a:avLst/>
          </a:prstGeom>
          <a:solidFill>
            <a:srgbClr val="059669"/>
          </a:solidFill>
          <a:ln w="12700">
            <a:solidFill>
              <a:srgbClr val="059669"/>
            </a:solidFill>
            <a:prstDash val="solid"/>
          </a:ln>
        </p:spPr>
      </p:sp>
      <p:sp>
        <p:nvSpPr>
          <p:cNvPr id="28" name="Text 26"/>
          <p:cNvSpPr/>
          <p:nvPr/>
        </p:nvSpPr>
        <p:spPr>
          <a:xfrm>
            <a:off x="457200" y="2852928"/>
            <a:ext cx="2423160" cy="457200"/>
          </a:xfrm>
          <a:prstGeom prst="rect">
            <a:avLst/>
          </a:prstGeom>
          <a:noFill/>
          <a:ln/>
        </p:spPr>
        <p:txBody>
          <a:bodyPr wrap="square" lIns="0" tIns="0" rIns="0" bIns="0" rtlCol="0" anchor="ctr"/>
          <a:lstStyle/>
          <a:p>
            <a:pPr algn="ctr" indent="0" marL="0">
              <a:buNone/>
            </a:pPr>
            <a:r>
              <a:rPr lang="en-US" sz="2000" b="1" dirty="0">
                <a:solidFill>
                  <a:srgbClr val="059669"/>
                </a:solidFill>
                <a:latin typeface="Calibri" pitchFamily="34" charset="0"/>
                <a:ea typeface="Calibri" pitchFamily="34" charset="-122"/>
                <a:cs typeface="Calibri" pitchFamily="34" charset="-120"/>
              </a:rPr>
              <a:t>Country Context</a:t>
            </a:r>
            <a:endParaRPr lang="en-US" sz="2000" dirty="0"/>
          </a:p>
        </p:txBody>
      </p:sp>
      <p:sp>
        <p:nvSpPr>
          <p:cNvPr id="29" name="Text 27"/>
          <p:cNvSpPr/>
          <p:nvPr/>
        </p:nvSpPr>
        <p:spPr>
          <a:xfrm>
            <a:off x="411480" y="3291840"/>
            <a:ext cx="2514600" cy="27432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Matters for prediction</a:t>
            </a:r>
            <a:endParaRPr lang="en-US" sz="1100" dirty="0"/>
          </a:p>
        </p:txBody>
      </p:sp>
      <p:sp>
        <p:nvSpPr>
          <p:cNvPr id="30" name="Shape 28"/>
          <p:cNvSpPr/>
          <p:nvPr/>
        </p:nvSpPr>
        <p:spPr>
          <a:xfrm>
            <a:off x="640080" y="3584448"/>
            <a:ext cx="2057400" cy="36576"/>
          </a:xfrm>
          <a:prstGeom prst="rect">
            <a:avLst/>
          </a:prstGeom>
          <a:solidFill>
            <a:srgbClr val="CBD5E1"/>
          </a:solidFill>
          <a:ln w="12700">
            <a:solidFill>
              <a:srgbClr val="CBD5E1"/>
            </a:solidFill>
            <a:prstDash val="solid"/>
          </a:ln>
        </p:spPr>
      </p:sp>
      <p:sp>
        <p:nvSpPr>
          <p:cNvPr id="31" name="Text 29"/>
          <p:cNvSpPr/>
          <p:nvPr/>
        </p:nvSpPr>
        <p:spPr>
          <a:xfrm>
            <a:off x="411480" y="3657600"/>
            <a:ext cx="2514600" cy="804672"/>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Airlines in countries with high active rates (like the US) are more likely to be active themselves.</a:t>
            </a:r>
            <a:endParaRPr lang="en-US" sz="950" dirty="0"/>
          </a:p>
        </p:txBody>
      </p:sp>
      <p:sp>
        <p:nvSpPr>
          <p:cNvPr id="32" name="Shape 30"/>
          <p:cNvSpPr/>
          <p:nvPr/>
        </p:nvSpPr>
        <p:spPr>
          <a:xfrm>
            <a:off x="3172968" y="2743200"/>
            <a:ext cx="2697480" cy="178308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33" name="Shape 31"/>
          <p:cNvSpPr/>
          <p:nvPr/>
        </p:nvSpPr>
        <p:spPr>
          <a:xfrm>
            <a:off x="3172968" y="2743200"/>
            <a:ext cx="2697480" cy="54864"/>
          </a:xfrm>
          <a:prstGeom prst="rect">
            <a:avLst/>
          </a:prstGeom>
          <a:solidFill>
            <a:srgbClr val="1B4332"/>
          </a:solidFill>
          <a:ln w="12700">
            <a:solidFill>
              <a:srgbClr val="1B4332"/>
            </a:solidFill>
            <a:prstDash val="solid"/>
          </a:ln>
        </p:spPr>
      </p:sp>
      <p:sp>
        <p:nvSpPr>
          <p:cNvPr id="34" name="Text 32"/>
          <p:cNvSpPr/>
          <p:nvPr/>
        </p:nvSpPr>
        <p:spPr>
          <a:xfrm>
            <a:off x="3310128" y="2852928"/>
            <a:ext cx="2423160" cy="457200"/>
          </a:xfrm>
          <a:prstGeom prst="rect">
            <a:avLst/>
          </a:prstGeom>
          <a:noFill/>
          <a:ln/>
        </p:spPr>
        <p:txBody>
          <a:bodyPr wrap="square" lIns="0" tIns="0" rIns="0" bIns="0" rtlCol="0" anchor="ctr"/>
          <a:lstStyle/>
          <a:p>
            <a:pPr algn="ctr" indent="0" marL="0">
              <a:buNone/>
            </a:pPr>
            <a:r>
              <a:rPr lang="en-US" sz="2000" b="1" dirty="0">
                <a:solidFill>
                  <a:srgbClr val="1B4332"/>
                </a:solidFill>
                <a:latin typeface="Calibri" pitchFamily="34" charset="0"/>
                <a:ea typeface="Calibri" pitchFamily="34" charset="-122"/>
                <a:cs typeface="Calibri" pitchFamily="34" charset="-120"/>
              </a:rPr>
              <a:t>Top Airlines</a:t>
            </a:r>
            <a:endParaRPr lang="en-US" sz="2000" dirty="0"/>
          </a:p>
        </p:txBody>
      </p:sp>
      <p:sp>
        <p:nvSpPr>
          <p:cNvPr id="35" name="Text 33"/>
          <p:cNvSpPr/>
          <p:nvPr/>
        </p:nvSpPr>
        <p:spPr>
          <a:xfrm>
            <a:off x="3264408" y="3291840"/>
            <a:ext cx="2514600" cy="27432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Drive most route activity</a:t>
            </a:r>
            <a:endParaRPr lang="en-US" sz="1100" dirty="0"/>
          </a:p>
        </p:txBody>
      </p:sp>
      <p:sp>
        <p:nvSpPr>
          <p:cNvPr id="36" name="Shape 34"/>
          <p:cNvSpPr/>
          <p:nvPr/>
        </p:nvSpPr>
        <p:spPr>
          <a:xfrm>
            <a:off x="3493008" y="3584448"/>
            <a:ext cx="2057400" cy="36576"/>
          </a:xfrm>
          <a:prstGeom prst="rect">
            <a:avLst/>
          </a:prstGeom>
          <a:solidFill>
            <a:srgbClr val="CBD5E1"/>
          </a:solidFill>
          <a:ln w="12700">
            <a:solidFill>
              <a:srgbClr val="CBD5E1"/>
            </a:solidFill>
            <a:prstDash val="solid"/>
          </a:ln>
        </p:spPr>
      </p:sp>
      <p:sp>
        <p:nvSpPr>
          <p:cNvPr id="37" name="Text 35"/>
          <p:cNvSpPr/>
          <p:nvPr/>
        </p:nvSpPr>
        <p:spPr>
          <a:xfrm>
            <a:off x="3264408" y="3657600"/>
            <a:ext cx="2514600" cy="804672"/>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The top 10 airlines account for a disproportionate share of all 67,663 routes in the dataset.</a:t>
            </a:r>
            <a:endParaRPr lang="en-US" sz="950" dirty="0"/>
          </a:p>
        </p:txBody>
      </p:sp>
      <p:sp>
        <p:nvSpPr>
          <p:cNvPr id="38" name="Shape 36"/>
          <p:cNvSpPr/>
          <p:nvPr/>
        </p:nvSpPr>
        <p:spPr>
          <a:xfrm>
            <a:off x="6025896" y="2743200"/>
            <a:ext cx="2697480" cy="178308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39" name="Shape 37"/>
          <p:cNvSpPr/>
          <p:nvPr/>
        </p:nvSpPr>
        <p:spPr>
          <a:xfrm>
            <a:off x="6025896" y="2743200"/>
            <a:ext cx="2697480" cy="54864"/>
          </a:xfrm>
          <a:prstGeom prst="rect">
            <a:avLst/>
          </a:prstGeom>
          <a:solidFill>
            <a:srgbClr val="2D6A4F"/>
          </a:solidFill>
          <a:ln w="12700">
            <a:solidFill>
              <a:srgbClr val="2D6A4F"/>
            </a:solidFill>
            <a:prstDash val="solid"/>
          </a:ln>
        </p:spPr>
      </p:sp>
      <p:sp>
        <p:nvSpPr>
          <p:cNvPr id="40" name="Text 38"/>
          <p:cNvSpPr/>
          <p:nvPr/>
        </p:nvSpPr>
        <p:spPr>
          <a:xfrm>
            <a:off x="6163056" y="2852928"/>
            <a:ext cx="2423160" cy="457200"/>
          </a:xfrm>
          <a:prstGeom prst="rect">
            <a:avLst/>
          </a:prstGeom>
          <a:noFill/>
          <a:ln/>
        </p:spPr>
        <p:txBody>
          <a:bodyPr wrap="square" lIns="0" tIns="0" rIns="0" bIns="0" rtlCol="0" anchor="ctr"/>
          <a:lstStyle/>
          <a:p>
            <a:pPr algn="ctr" indent="0" marL="0">
              <a:buNone/>
            </a:pPr>
            <a:r>
              <a:rPr lang="en-US" sz="2000" b="1" dirty="0">
                <a:solidFill>
                  <a:srgbClr val="2D6A4F"/>
                </a:solidFill>
                <a:latin typeface="Calibri" pitchFamily="34" charset="0"/>
                <a:ea typeface="Calibri" pitchFamily="34" charset="-122"/>
                <a:cs typeface="Calibri" pitchFamily="34" charset="-120"/>
              </a:rPr>
              <a:t>No Single Feature</a:t>
            </a:r>
            <a:endParaRPr lang="en-US" sz="2000" dirty="0"/>
          </a:p>
        </p:txBody>
      </p:sp>
      <p:sp>
        <p:nvSpPr>
          <p:cNvPr id="41" name="Text 39"/>
          <p:cNvSpPr/>
          <p:nvPr/>
        </p:nvSpPr>
        <p:spPr>
          <a:xfrm>
            <a:off x="6117336" y="3291840"/>
            <a:ext cx="2514600" cy="274320"/>
          </a:xfrm>
          <a:prstGeom prst="rect">
            <a:avLst/>
          </a:prstGeom>
          <a:noFill/>
          <a:ln/>
        </p:spPr>
        <p:txBody>
          <a:bodyPr wrap="square" lIns="0" tIns="0" rIns="0" bIns="0" rtlCol="0" anchor="ctr"/>
          <a:lstStyle/>
          <a:p>
            <a:pPr algn="ctr" indent="0" marL="0">
              <a:buNone/>
            </a:pPr>
            <a:r>
              <a:rPr lang="en-US" sz="1100" b="1" dirty="0">
                <a:solidFill>
                  <a:srgbClr val="1E293B"/>
                </a:solidFill>
                <a:latin typeface="Calibri" pitchFamily="34" charset="0"/>
                <a:ea typeface="Calibri" pitchFamily="34" charset="-122"/>
                <a:cs typeface="Calibri" pitchFamily="34" charset="-120"/>
              </a:rPr>
              <a:t>Is enough alone</a:t>
            </a:r>
            <a:endParaRPr lang="en-US" sz="1100" dirty="0"/>
          </a:p>
        </p:txBody>
      </p:sp>
      <p:sp>
        <p:nvSpPr>
          <p:cNvPr id="42" name="Shape 40"/>
          <p:cNvSpPr/>
          <p:nvPr/>
        </p:nvSpPr>
        <p:spPr>
          <a:xfrm>
            <a:off x="6345936" y="3584448"/>
            <a:ext cx="2057400" cy="36576"/>
          </a:xfrm>
          <a:prstGeom prst="rect">
            <a:avLst/>
          </a:prstGeom>
          <a:solidFill>
            <a:srgbClr val="CBD5E1"/>
          </a:solidFill>
          <a:ln w="12700">
            <a:solidFill>
              <a:srgbClr val="CBD5E1"/>
            </a:solidFill>
            <a:prstDash val="solid"/>
          </a:ln>
        </p:spPr>
      </p:sp>
      <p:sp>
        <p:nvSpPr>
          <p:cNvPr id="43" name="Text 41"/>
          <p:cNvSpPr/>
          <p:nvPr/>
        </p:nvSpPr>
        <p:spPr>
          <a:xfrm>
            <a:off x="6117336" y="3657600"/>
            <a:ext cx="2514600" cy="804672"/>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The best predictions come from combining route features, identifiers, and country-level context.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BF6"/>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4332"/>
          </a:solidFill>
          <a:ln w="12700">
            <a:solidFill>
              <a:srgbClr val="1B4332"/>
            </a:solidFill>
            <a:prstDash val="solid"/>
          </a:ln>
        </p:spPr>
      </p:sp>
      <p:sp>
        <p:nvSpPr>
          <p:cNvPr id="3" name="Shape 1"/>
          <p:cNvSpPr/>
          <p:nvPr/>
        </p:nvSpPr>
        <p:spPr>
          <a:xfrm>
            <a:off x="0" y="658368"/>
            <a:ext cx="9144000" cy="50292"/>
          </a:xfrm>
          <a:prstGeom prst="rect">
            <a:avLst/>
          </a:prstGeom>
          <a:solidFill>
            <a:srgbClr val="40916C"/>
          </a:solidFill>
          <a:ln w="12700">
            <a:solidFill>
              <a:srgbClr val="40916C"/>
            </a:solidFill>
            <a:prstDash val="solid"/>
          </a:ln>
        </p:spPr>
      </p:sp>
      <p:sp>
        <p:nvSpPr>
          <p:cNvPr id="4" name="Text 2"/>
          <p:cNvSpPr/>
          <p:nvPr/>
        </p:nvSpPr>
        <p:spPr>
          <a:xfrm>
            <a:off x="320040" y="64008"/>
            <a:ext cx="8503920" cy="53035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Machine Learning Model</a:t>
            </a:r>
            <a:endParaRPr lang="en-US" sz="2200" dirty="0"/>
          </a:p>
        </p:txBody>
      </p:sp>
      <p:sp>
        <p:nvSpPr>
          <p:cNvPr id="5" name="Text 3"/>
          <p:cNvSpPr/>
          <p:nvPr/>
        </p:nvSpPr>
        <p:spPr>
          <a:xfrm>
            <a:off x="320040" y="64008"/>
            <a:ext cx="8503920" cy="530352"/>
          </a:xfrm>
          <a:prstGeom prst="rect">
            <a:avLst/>
          </a:prstGeom>
          <a:noFill/>
          <a:ln/>
        </p:spPr>
        <p:txBody>
          <a:bodyPr wrap="square" lIns="0" tIns="0" rIns="0" bIns="0" rtlCol="0" anchor="b"/>
          <a:lstStyle/>
          <a:p>
            <a:pPr algn="r" indent="0" marL="0">
              <a:buNone/>
            </a:pPr>
            <a:r>
              <a:rPr lang="en-US" sz="1100" dirty="0">
                <a:solidFill>
                  <a:srgbClr val="95D5B2"/>
                </a:solidFill>
                <a:latin typeface="Calibri" pitchFamily="34" charset="0"/>
                <a:ea typeface="Calibri" pitchFamily="34" charset="-122"/>
                <a:cs typeface="Calibri" pitchFamily="34" charset="-120"/>
              </a:rPr>
              <a:t>Ensemble Soft Voting Classifier</a:t>
            </a:r>
            <a:endParaRPr lang="en-US" sz="1100" dirty="0"/>
          </a:p>
        </p:txBody>
      </p:sp>
      <p:sp>
        <p:nvSpPr>
          <p:cNvPr id="6" name="Shape 4"/>
          <p:cNvSpPr/>
          <p:nvPr/>
        </p:nvSpPr>
        <p:spPr>
          <a:xfrm>
            <a:off x="0" y="4983480"/>
            <a:ext cx="9144000" cy="160020"/>
          </a:xfrm>
          <a:prstGeom prst="rect">
            <a:avLst/>
          </a:prstGeom>
          <a:solidFill>
            <a:srgbClr val="1B4332"/>
          </a:solidFill>
          <a:ln w="12700">
            <a:solidFill>
              <a:srgbClr val="1B4332"/>
            </a:solidFill>
            <a:prstDash val="solid"/>
          </a:ln>
        </p:spPr>
      </p:sp>
      <p:sp>
        <p:nvSpPr>
          <p:cNvPr id="7" name="Text 5"/>
          <p:cNvSpPr/>
          <p:nvPr/>
        </p:nvSpPr>
        <p:spPr>
          <a:xfrm>
            <a:off x="274320" y="4983480"/>
            <a:ext cx="8595360" cy="160020"/>
          </a:xfrm>
          <a:prstGeom prst="rect">
            <a:avLst/>
          </a:prstGeom>
          <a:noFill/>
          <a:ln/>
        </p:spPr>
        <p:txBody>
          <a:bodyPr wrap="square" lIns="0" tIns="0" rIns="0" bIns="0" rtlCol="0" anchor="ctr"/>
          <a:lstStyle/>
          <a:p>
            <a:pPr indent="0" marL="0">
              <a:buNone/>
            </a:pPr>
            <a:r>
              <a:rPr lang="en-US" sz="800" dirty="0">
                <a:solidFill>
                  <a:srgbClr val="74C69D"/>
                </a:solidFill>
                <a:latin typeface="Calibri" pitchFamily="34" charset="0"/>
                <a:ea typeface="Calibri" pitchFamily="34" charset="-122"/>
                <a:cs typeface="Calibri" pitchFamily="34" charset="-120"/>
              </a:rPr>
              <a:t>DSAI 4103 – Business Analytics  |  Airline Activity Prediction</a:t>
            </a:r>
            <a:endParaRPr lang="en-US" sz="800" dirty="0"/>
          </a:p>
        </p:txBody>
      </p:sp>
      <p:sp>
        <p:nvSpPr>
          <p:cNvPr id="8" name="Shape 6"/>
          <p:cNvSpPr/>
          <p:nvPr/>
        </p:nvSpPr>
        <p:spPr>
          <a:xfrm>
            <a:off x="320040" y="804672"/>
            <a:ext cx="4160520" cy="406908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320040" y="804672"/>
            <a:ext cx="4160520" cy="384048"/>
          </a:xfrm>
          <a:prstGeom prst="rect">
            <a:avLst/>
          </a:prstGeom>
          <a:solidFill>
            <a:srgbClr val="1B4332"/>
          </a:solidFill>
          <a:ln w="12700">
            <a:solidFill>
              <a:srgbClr val="1B4332"/>
            </a:solidFill>
            <a:prstDash val="solid"/>
          </a:ln>
        </p:spPr>
      </p:sp>
      <p:sp>
        <p:nvSpPr>
          <p:cNvPr id="10" name="Text 8"/>
          <p:cNvSpPr/>
          <p:nvPr/>
        </p:nvSpPr>
        <p:spPr>
          <a:xfrm>
            <a:off x="411480" y="804672"/>
            <a:ext cx="397764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Model Architecture</a:t>
            </a:r>
            <a:endParaRPr lang="en-US" sz="1250" dirty="0"/>
          </a:p>
        </p:txBody>
      </p:sp>
      <p:sp>
        <p:nvSpPr>
          <p:cNvPr id="11" name="Shape 9"/>
          <p:cNvSpPr/>
          <p:nvPr/>
        </p:nvSpPr>
        <p:spPr>
          <a:xfrm>
            <a:off x="1005840" y="1261872"/>
            <a:ext cx="2606040" cy="438912"/>
          </a:xfrm>
          <a:prstGeom prst="rect">
            <a:avLst/>
          </a:prstGeom>
          <a:solidFill>
            <a:srgbClr val="EAF7ED"/>
          </a:solidFill>
          <a:ln w="19050">
            <a:solidFill>
              <a:srgbClr val="40916C"/>
            </a:solidFill>
            <a:prstDash val="solid"/>
          </a:ln>
        </p:spPr>
      </p:sp>
      <p:sp>
        <p:nvSpPr>
          <p:cNvPr id="12" name="Text 10"/>
          <p:cNvSpPr/>
          <p:nvPr/>
        </p:nvSpPr>
        <p:spPr>
          <a:xfrm>
            <a:off x="1005840" y="1261872"/>
            <a:ext cx="2606040" cy="438912"/>
          </a:xfrm>
          <a:prstGeom prst="rect">
            <a:avLst/>
          </a:prstGeom>
          <a:noFill/>
          <a:ln/>
        </p:spPr>
        <p:txBody>
          <a:bodyPr wrap="square" lIns="0" tIns="0" rIns="0" bIns="0" rtlCol="0" anchor="ctr"/>
          <a:lstStyle/>
          <a:p>
            <a:pPr algn="ctr" indent="0" marL="0">
              <a:buNone/>
            </a:pPr>
            <a:r>
              <a:rPr lang="en-US" sz="1200" b="1" dirty="0">
                <a:solidFill>
                  <a:srgbClr val="40916C"/>
                </a:solidFill>
                <a:latin typeface="Calibri" pitchFamily="34" charset="0"/>
                <a:ea typeface="Calibri" pitchFamily="34" charset="-122"/>
                <a:cs typeface="Calibri" pitchFamily="34" charset="-120"/>
              </a:rPr>
              <a:t>15 Input Features</a:t>
            </a:r>
            <a:endParaRPr lang="en-US" sz="1200" dirty="0"/>
          </a:p>
        </p:txBody>
      </p:sp>
      <p:sp>
        <p:nvSpPr>
          <p:cNvPr id="13" name="Shape 11"/>
          <p:cNvSpPr/>
          <p:nvPr/>
        </p:nvSpPr>
        <p:spPr>
          <a:xfrm>
            <a:off x="2304288" y="1700784"/>
            <a:ext cx="0" cy="237744"/>
          </a:xfrm>
          <a:prstGeom prst="line">
            <a:avLst/>
          </a:prstGeom>
          <a:noFill/>
          <a:ln w="19050">
            <a:solidFill>
              <a:srgbClr val="475569"/>
            </a:solidFill>
            <a:prstDash val="solid"/>
          </a:ln>
        </p:spPr>
      </p:sp>
      <p:sp>
        <p:nvSpPr>
          <p:cNvPr id="14" name="Shape 12"/>
          <p:cNvSpPr/>
          <p:nvPr/>
        </p:nvSpPr>
        <p:spPr>
          <a:xfrm>
            <a:off x="457200" y="1938528"/>
            <a:ext cx="960120" cy="685800"/>
          </a:xfrm>
          <a:prstGeom prst="rect">
            <a:avLst/>
          </a:prstGeom>
          <a:solidFill>
            <a:srgbClr val="40916C"/>
          </a:solidFill>
          <a:ln w="12700">
            <a:solidFill>
              <a:srgbClr val="40916C"/>
            </a:solidFill>
            <a:prstDash val="solid"/>
          </a:ln>
        </p:spPr>
      </p:sp>
      <p:sp>
        <p:nvSpPr>
          <p:cNvPr id="15" name="Text 13"/>
          <p:cNvSpPr/>
          <p:nvPr/>
        </p:nvSpPr>
        <p:spPr>
          <a:xfrm>
            <a:off x="457200" y="1938528"/>
            <a:ext cx="960120" cy="6858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Random Forest</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 3</a:t>
            </a:r>
            <a:endParaRPr lang="en-US" sz="850" dirty="0"/>
          </a:p>
        </p:txBody>
      </p:sp>
      <p:sp>
        <p:nvSpPr>
          <p:cNvPr id="16" name="Shape 14"/>
          <p:cNvSpPr/>
          <p:nvPr/>
        </p:nvSpPr>
        <p:spPr>
          <a:xfrm>
            <a:off x="937260" y="2624328"/>
            <a:ext cx="0" cy="228600"/>
          </a:xfrm>
          <a:prstGeom prst="line">
            <a:avLst/>
          </a:prstGeom>
          <a:noFill/>
          <a:ln w="19050">
            <a:solidFill>
              <a:srgbClr val="475569"/>
            </a:solidFill>
            <a:prstDash val="solid"/>
          </a:ln>
        </p:spPr>
      </p:sp>
      <p:sp>
        <p:nvSpPr>
          <p:cNvPr id="17" name="Shape 15"/>
          <p:cNvSpPr/>
          <p:nvPr/>
        </p:nvSpPr>
        <p:spPr>
          <a:xfrm>
            <a:off x="937260" y="2852928"/>
            <a:ext cx="1367028" cy="0"/>
          </a:xfrm>
          <a:prstGeom prst="line">
            <a:avLst/>
          </a:prstGeom>
          <a:noFill/>
          <a:ln w="12700">
            <a:solidFill>
              <a:srgbClr val="475569"/>
            </a:solidFill>
            <a:prstDash val="dash"/>
          </a:ln>
        </p:spPr>
      </p:sp>
      <p:sp>
        <p:nvSpPr>
          <p:cNvPr id="18" name="Shape 16"/>
          <p:cNvSpPr/>
          <p:nvPr/>
        </p:nvSpPr>
        <p:spPr>
          <a:xfrm>
            <a:off x="1600200" y="1938528"/>
            <a:ext cx="960120" cy="685800"/>
          </a:xfrm>
          <a:prstGeom prst="rect">
            <a:avLst/>
          </a:prstGeom>
          <a:solidFill>
            <a:srgbClr val="1B4332"/>
          </a:solidFill>
          <a:ln w="12700">
            <a:solidFill>
              <a:srgbClr val="1B4332"/>
            </a:solidFill>
            <a:prstDash val="solid"/>
          </a:ln>
        </p:spPr>
      </p:sp>
      <p:sp>
        <p:nvSpPr>
          <p:cNvPr id="19" name="Text 17"/>
          <p:cNvSpPr/>
          <p:nvPr/>
        </p:nvSpPr>
        <p:spPr>
          <a:xfrm>
            <a:off x="1600200" y="1938528"/>
            <a:ext cx="960120" cy="6858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Gradient</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Boost × 2</a:t>
            </a:r>
            <a:endParaRPr lang="en-US" sz="850" dirty="0"/>
          </a:p>
        </p:txBody>
      </p:sp>
      <p:sp>
        <p:nvSpPr>
          <p:cNvPr id="20" name="Shape 18"/>
          <p:cNvSpPr/>
          <p:nvPr/>
        </p:nvSpPr>
        <p:spPr>
          <a:xfrm>
            <a:off x="2080260" y="2624328"/>
            <a:ext cx="0" cy="228600"/>
          </a:xfrm>
          <a:prstGeom prst="line">
            <a:avLst/>
          </a:prstGeom>
          <a:noFill/>
          <a:ln w="19050">
            <a:solidFill>
              <a:srgbClr val="475569"/>
            </a:solidFill>
            <a:prstDash val="solid"/>
          </a:ln>
        </p:spPr>
      </p:sp>
      <p:sp>
        <p:nvSpPr>
          <p:cNvPr id="21" name="Shape 19"/>
          <p:cNvSpPr/>
          <p:nvPr/>
        </p:nvSpPr>
        <p:spPr>
          <a:xfrm>
            <a:off x="2080260" y="2852928"/>
            <a:ext cx="224028" cy="0"/>
          </a:xfrm>
          <a:prstGeom prst="line">
            <a:avLst/>
          </a:prstGeom>
          <a:noFill/>
          <a:ln w="12700">
            <a:solidFill>
              <a:srgbClr val="475569"/>
            </a:solidFill>
            <a:prstDash val="dash"/>
          </a:ln>
        </p:spPr>
      </p:sp>
      <p:sp>
        <p:nvSpPr>
          <p:cNvPr id="22" name="Shape 20"/>
          <p:cNvSpPr/>
          <p:nvPr/>
        </p:nvSpPr>
        <p:spPr>
          <a:xfrm>
            <a:off x="2743200" y="1938528"/>
            <a:ext cx="960120" cy="685800"/>
          </a:xfrm>
          <a:prstGeom prst="rect">
            <a:avLst/>
          </a:prstGeom>
          <a:solidFill>
            <a:srgbClr val="D4A017"/>
          </a:solidFill>
          <a:ln w="12700">
            <a:solidFill>
              <a:srgbClr val="D4A017"/>
            </a:solidFill>
            <a:prstDash val="solid"/>
          </a:ln>
        </p:spPr>
      </p:sp>
      <p:sp>
        <p:nvSpPr>
          <p:cNvPr id="23" name="Text 21"/>
          <p:cNvSpPr/>
          <p:nvPr/>
        </p:nvSpPr>
        <p:spPr>
          <a:xfrm>
            <a:off x="2743200" y="1938528"/>
            <a:ext cx="960120" cy="6858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Logistic</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Regress × 1</a:t>
            </a:r>
            <a:endParaRPr lang="en-US" sz="850" dirty="0"/>
          </a:p>
        </p:txBody>
      </p:sp>
      <p:sp>
        <p:nvSpPr>
          <p:cNvPr id="24" name="Shape 22"/>
          <p:cNvSpPr/>
          <p:nvPr/>
        </p:nvSpPr>
        <p:spPr>
          <a:xfrm>
            <a:off x="3223260" y="2624328"/>
            <a:ext cx="0" cy="228600"/>
          </a:xfrm>
          <a:prstGeom prst="line">
            <a:avLst/>
          </a:prstGeom>
          <a:noFill/>
          <a:ln w="19050">
            <a:solidFill>
              <a:srgbClr val="475569"/>
            </a:solidFill>
            <a:prstDash val="solid"/>
          </a:ln>
        </p:spPr>
      </p:sp>
      <p:sp>
        <p:nvSpPr>
          <p:cNvPr id="25" name="Shape 23"/>
          <p:cNvSpPr/>
          <p:nvPr/>
        </p:nvSpPr>
        <p:spPr>
          <a:xfrm>
            <a:off x="3223260" y="2852928"/>
            <a:ext cx="-918972" cy="0"/>
          </a:xfrm>
          <a:prstGeom prst="line">
            <a:avLst/>
          </a:prstGeom>
          <a:noFill/>
          <a:ln w="12700">
            <a:solidFill>
              <a:srgbClr val="475569"/>
            </a:solidFill>
            <a:prstDash val="dash"/>
          </a:ln>
        </p:spPr>
      </p:sp>
      <p:sp>
        <p:nvSpPr>
          <p:cNvPr id="26" name="Shape 24"/>
          <p:cNvSpPr/>
          <p:nvPr/>
        </p:nvSpPr>
        <p:spPr>
          <a:xfrm>
            <a:off x="777240" y="2852928"/>
            <a:ext cx="3063240" cy="502920"/>
          </a:xfrm>
          <a:prstGeom prst="rect">
            <a:avLst/>
          </a:prstGeom>
          <a:solidFill>
            <a:srgbClr val="40916C"/>
          </a:solidFill>
          <a:ln w="12700">
            <a:solidFill>
              <a:srgbClr val="40916C"/>
            </a:solidFill>
            <a:prstDash val="solid"/>
          </a:ln>
        </p:spPr>
      </p:sp>
      <p:sp>
        <p:nvSpPr>
          <p:cNvPr id="27" name="Text 25"/>
          <p:cNvSpPr/>
          <p:nvPr/>
        </p:nvSpPr>
        <p:spPr>
          <a:xfrm>
            <a:off x="777240" y="2852928"/>
            <a:ext cx="306324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Soft Voting Ensemble</a:t>
            </a:r>
            <a:endParaRPr lang="en-US" sz="1300" dirty="0"/>
          </a:p>
        </p:txBody>
      </p:sp>
      <p:sp>
        <p:nvSpPr>
          <p:cNvPr id="28" name="Shape 26"/>
          <p:cNvSpPr/>
          <p:nvPr/>
        </p:nvSpPr>
        <p:spPr>
          <a:xfrm>
            <a:off x="2304288" y="3355848"/>
            <a:ext cx="0" cy="201168"/>
          </a:xfrm>
          <a:prstGeom prst="line">
            <a:avLst/>
          </a:prstGeom>
          <a:noFill/>
          <a:ln w="19050">
            <a:solidFill>
              <a:srgbClr val="475569"/>
            </a:solidFill>
            <a:prstDash val="solid"/>
          </a:ln>
        </p:spPr>
      </p:sp>
      <p:sp>
        <p:nvSpPr>
          <p:cNvPr id="29" name="Shape 27"/>
          <p:cNvSpPr/>
          <p:nvPr/>
        </p:nvSpPr>
        <p:spPr>
          <a:xfrm>
            <a:off x="777240" y="3557016"/>
            <a:ext cx="3063240" cy="502920"/>
          </a:xfrm>
          <a:prstGeom prst="rect">
            <a:avLst/>
          </a:prstGeom>
          <a:solidFill>
            <a:srgbClr val="059669"/>
          </a:solidFill>
          <a:ln w="12700">
            <a:solidFill>
              <a:srgbClr val="059669"/>
            </a:solidFill>
            <a:prstDash val="solid"/>
          </a:ln>
        </p:spPr>
      </p:sp>
      <p:sp>
        <p:nvSpPr>
          <p:cNvPr id="30" name="Text 28"/>
          <p:cNvSpPr/>
          <p:nvPr/>
        </p:nvSpPr>
        <p:spPr>
          <a:xfrm>
            <a:off x="777240" y="3557016"/>
            <a:ext cx="306324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Prediction: Active / Inactive</a:t>
            </a:r>
            <a:endParaRPr lang="en-US" sz="1200" dirty="0"/>
          </a:p>
        </p:txBody>
      </p:sp>
      <p:sp>
        <p:nvSpPr>
          <p:cNvPr id="31" name="Text 29"/>
          <p:cNvSpPr/>
          <p:nvPr/>
        </p:nvSpPr>
        <p:spPr>
          <a:xfrm>
            <a:off x="777240" y="4114800"/>
            <a:ext cx="3063240" cy="274320"/>
          </a:xfrm>
          <a:prstGeom prst="rect">
            <a:avLst/>
          </a:prstGeom>
          <a:noFill/>
          <a:ln/>
        </p:spPr>
        <p:txBody>
          <a:bodyPr wrap="square" lIns="0" tIns="0" rIns="0" bIns="0"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 Confidence probability score (0–1)</a:t>
            </a:r>
            <a:endParaRPr lang="en-US" sz="950" dirty="0"/>
          </a:p>
        </p:txBody>
      </p:sp>
      <p:sp>
        <p:nvSpPr>
          <p:cNvPr id="32" name="Shape 30"/>
          <p:cNvSpPr/>
          <p:nvPr/>
        </p:nvSpPr>
        <p:spPr>
          <a:xfrm>
            <a:off x="4663440" y="804672"/>
            <a:ext cx="4160520" cy="406908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33" name="Shape 31"/>
          <p:cNvSpPr/>
          <p:nvPr/>
        </p:nvSpPr>
        <p:spPr>
          <a:xfrm>
            <a:off x="4663440" y="804672"/>
            <a:ext cx="4160520" cy="384048"/>
          </a:xfrm>
          <a:prstGeom prst="rect">
            <a:avLst/>
          </a:prstGeom>
          <a:solidFill>
            <a:srgbClr val="40916C"/>
          </a:solidFill>
          <a:ln w="12700">
            <a:solidFill>
              <a:srgbClr val="40916C"/>
            </a:solidFill>
            <a:prstDash val="solid"/>
          </a:ln>
        </p:spPr>
      </p:sp>
      <p:sp>
        <p:nvSpPr>
          <p:cNvPr id="34" name="Text 32"/>
          <p:cNvSpPr/>
          <p:nvPr/>
        </p:nvSpPr>
        <p:spPr>
          <a:xfrm>
            <a:off x="4754880" y="804672"/>
            <a:ext cx="397764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Model Choices &amp; Details</a:t>
            </a:r>
            <a:endParaRPr lang="en-US" sz="1250" dirty="0"/>
          </a:p>
        </p:txBody>
      </p:sp>
      <p:sp>
        <p:nvSpPr>
          <p:cNvPr id="35" name="Shape 33"/>
          <p:cNvSpPr/>
          <p:nvPr/>
        </p:nvSpPr>
        <p:spPr>
          <a:xfrm>
            <a:off x="4754880" y="1335024"/>
            <a:ext cx="64008" cy="274320"/>
          </a:xfrm>
          <a:prstGeom prst="rect">
            <a:avLst/>
          </a:prstGeom>
          <a:solidFill>
            <a:srgbClr val="40916C"/>
          </a:solidFill>
          <a:ln w="12700">
            <a:solidFill>
              <a:srgbClr val="40916C"/>
            </a:solidFill>
            <a:prstDash val="solid"/>
          </a:ln>
        </p:spPr>
      </p:sp>
      <p:sp>
        <p:nvSpPr>
          <p:cNvPr id="36" name="Text 34"/>
          <p:cNvSpPr/>
          <p:nvPr/>
        </p:nvSpPr>
        <p:spPr>
          <a:xfrm>
            <a:off x="4919472" y="1298448"/>
            <a:ext cx="379476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Why Ensemble?</a:t>
            </a:r>
            <a:endParaRPr lang="en-US" sz="1200" dirty="0"/>
          </a:p>
        </p:txBody>
      </p:sp>
      <p:sp>
        <p:nvSpPr>
          <p:cNvPr id="37" name="Text 35"/>
          <p:cNvSpPr/>
          <p:nvPr/>
        </p:nvSpPr>
        <p:spPr>
          <a:xfrm>
            <a:off x="4919472" y="1572768"/>
            <a:ext cx="3794760" cy="29260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Combining multiple models reduces error and gives more stable predictions than any single model.</a:t>
            </a:r>
            <a:endParaRPr lang="en-US" sz="1050" dirty="0"/>
          </a:p>
        </p:txBody>
      </p:sp>
      <p:sp>
        <p:nvSpPr>
          <p:cNvPr id="38" name="Shape 36"/>
          <p:cNvSpPr/>
          <p:nvPr/>
        </p:nvSpPr>
        <p:spPr>
          <a:xfrm>
            <a:off x="4754880" y="1929384"/>
            <a:ext cx="64008" cy="274320"/>
          </a:xfrm>
          <a:prstGeom prst="rect">
            <a:avLst/>
          </a:prstGeom>
          <a:solidFill>
            <a:srgbClr val="D4A017"/>
          </a:solidFill>
          <a:ln w="12700">
            <a:solidFill>
              <a:srgbClr val="D4A017"/>
            </a:solidFill>
            <a:prstDash val="solid"/>
          </a:ln>
        </p:spPr>
      </p:sp>
      <p:sp>
        <p:nvSpPr>
          <p:cNvPr id="39" name="Text 37"/>
          <p:cNvSpPr/>
          <p:nvPr/>
        </p:nvSpPr>
        <p:spPr>
          <a:xfrm>
            <a:off x="4919472" y="1892808"/>
            <a:ext cx="379476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Why Soft Voting?</a:t>
            </a:r>
            <a:endParaRPr lang="en-US" sz="1200" dirty="0"/>
          </a:p>
        </p:txBody>
      </p:sp>
      <p:sp>
        <p:nvSpPr>
          <p:cNvPr id="40" name="Text 38"/>
          <p:cNvSpPr/>
          <p:nvPr/>
        </p:nvSpPr>
        <p:spPr>
          <a:xfrm>
            <a:off x="4919472" y="2167128"/>
            <a:ext cx="3794760" cy="29260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Each model outputs a probability score. We average those scores before making the final decision.</a:t>
            </a:r>
            <a:endParaRPr lang="en-US" sz="1050" dirty="0"/>
          </a:p>
        </p:txBody>
      </p:sp>
      <p:sp>
        <p:nvSpPr>
          <p:cNvPr id="41" name="Shape 39"/>
          <p:cNvSpPr/>
          <p:nvPr/>
        </p:nvSpPr>
        <p:spPr>
          <a:xfrm>
            <a:off x="4754880" y="2523744"/>
            <a:ext cx="64008" cy="274320"/>
          </a:xfrm>
          <a:prstGeom prst="rect">
            <a:avLst/>
          </a:prstGeom>
          <a:solidFill>
            <a:srgbClr val="40916C"/>
          </a:solidFill>
          <a:ln w="12700">
            <a:solidFill>
              <a:srgbClr val="40916C"/>
            </a:solidFill>
            <a:prstDash val="solid"/>
          </a:ln>
        </p:spPr>
      </p:sp>
      <p:sp>
        <p:nvSpPr>
          <p:cNvPr id="42" name="Text 40"/>
          <p:cNvSpPr/>
          <p:nvPr/>
        </p:nvSpPr>
        <p:spPr>
          <a:xfrm>
            <a:off x="4919472" y="2487168"/>
            <a:ext cx="379476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Training Split</a:t>
            </a:r>
            <a:endParaRPr lang="en-US" sz="1200" dirty="0"/>
          </a:p>
        </p:txBody>
      </p:sp>
      <p:sp>
        <p:nvSpPr>
          <p:cNvPr id="43" name="Text 41"/>
          <p:cNvSpPr/>
          <p:nvPr/>
        </p:nvSpPr>
        <p:spPr>
          <a:xfrm>
            <a:off x="4919472" y="2761488"/>
            <a:ext cx="3794760" cy="29260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7,850 samples for training. Stratified 80/20 split preserves class balance in both sets.</a:t>
            </a:r>
            <a:endParaRPr lang="en-US" sz="1050" dirty="0"/>
          </a:p>
        </p:txBody>
      </p:sp>
      <p:sp>
        <p:nvSpPr>
          <p:cNvPr id="44" name="Shape 42"/>
          <p:cNvSpPr/>
          <p:nvPr/>
        </p:nvSpPr>
        <p:spPr>
          <a:xfrm>
            <a:off x="4754880" y="3118104"/>
            <a:ext cx="64008" cy="274320"/>
          </a:xfrm>
          <a:prstGeom prst="rect">
            <a:avLst/>
          </a:prstGeom>
          <a:solidFill>
            <a:srgbClr val="D4A017"/>
          </a:solidFill>
          <a:ln w="12700">
            <a:solidFill>
              <a:srgbClr val="D4A017"/>
            </a:solidFill>
            <a:prstDash val="solid"/>
          </a:ln>
        </p:spPr>
      </p:sp>
      <p:sp>
        <p:nvSpPr>
          <p:cNvPr id="45" name="Text 43"/>
          <p:cNvSpPr/>
          <p:nvPr/>
        </p:nvSpPr>
        <p:spPr>
          <a:xfrm>
            <a:off x="4919472" y="3081528"/>
            <a:ext cx="379476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Class Imbalance</a:t>
            </a:r>
            <a:endParaRPr lang="en-US" sz="1200" dirty="0"/>
          </a:p>
        </p:txBody>
      </p:sp>
      <p:sp>
        <p:nvSpPr>
          <p:cNvPr id="46" name="Text 44"/>
          <p:cNvSpPr/>
          <p:nvPr/>
        </p:nvSpPr>
        <p:spPr>
          <a:xfrm>
            <a:off x="4919472" y="3355848"/>
            <a:ext cx="3794760" cy="29260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Used class_weight='balanced' so the smaller Active class is not ignored during training.</a:t>
            </a:r>
            <a:endParaRPr lang="en-US" sz="1050" dirty="0"/>
          </a:p>
        </p:txBody>
      </p:sp>
      <p:sp>
        <p:nvSpPr>
          <p:cNvPr id="47" name="Shape 45"/>
          <p:cNvSpPr/>
          <p:nvPr/>
        </p:nvSpPr>
        <p:spPr>
          <a:xfrm>
            <a:off x="4754880" y="3712464"/>
            <a:ext cx="64008" cy="274320"/>
          </a:xfrm>
          <a:prstGeom prst="rect">
            <a:avLst/>
          </a:prstGeom>
          <a:solidFill>
            <a:srgbClr val="40916C"/>
          </a:solidFill>
          <a:ln w="12700">
            <a:solidFill>
              <a:srgbClr val="40916C"/>
            </a:solidFill>
            <a:prstDash val="solid"/>
          </a:ln>
        </p:spPr>
      </p:sp>
      <p:sp>
        <p:nvSpPr>
          <p:cNvPr id="48" name="Text 46"/>
          <p:cNvSpPr/>
          <p:nvPr/>
        </p:nvSpPr>
        <p:spPr>
          <a:xfrm>
            <a:off x="4919472" y="3675888"/>
            <a:ext cx="379476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Feature Scaling</a:t>
            </a:r>
            <a:endParaRPr lang="en-US" sz="1200" dirty="0"/>
          </a:p>
        </p:txBody>
      </p:sp>
      <p:sp>
        <p:nvSpPr>
          <p:cNvPr id="49" name="Text 47"/>
          <p:cNvSpPr/>
          <p:nvPr/>
        </p:nvSpPr>
        <p:spPr>
          <a:xfrm>
            <a:off x="4919472" y="3950208"/>
            <a:ext cx="3794760" cy="29260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StandardScaler applied for Logistic Regression. Tree-based models use raw features.</a:t>
            </a:r>
            <a:endParaRPr lang="en-US" sz="1050" dirty="0"/>
          </a:p>
        </p:txBody>
      </p:sp>
      <p:sp>
        <p:nvSpPr>
          <p:cNvPr id="50" name="Shape 48"/>
          <p:cNvSpPr/>
          <p:nvPr/>
        </p:nvSpPr>
        <p:spPr>
          <a:xfrm>
            <a:off x="4754880" y="4306824"/>
            <a:ext cx="64008" cy="274320"/>
          </a:xfrm>
          <a:prstGeom prst="rect">
            <a:avLst/>
          </a:prstGeom>
          <a:solidFill>
            <a:srgbClr val="D4A017"/>
          </a:solidFill>
          <a:ln w="12700">
            <a:solidFill>
              <a:srgbClr val="D4A017"/>
            </a:solidFill>
            <a:prstDash val="solid"/>
          </a:ln>
        </p:spPr>
      </p:sp>
      <p:sp>
        <p:nvSpPr>
          <p:cNvPr id="51" name="Text 49"/>
          <p:cNvSpPr/>
          <p:nvPr/>
        </p:nvSpPr>
        <p:spPr>
          <a:xfrm>
            <a:off x="4919472" y="4270248"/>
            <a:ext cx="379476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Decision Threshold</a:t>
            </a:r>
            <a:endParaRPr lang="en-US" sz="1200" dirty="0"/>
          </a:p>
        </p:txBody>
      </p:sp>
      <p:sp>
        <p:nvSpPr>
          <p:cNvPr id="52" name="Text 50"/>
          <p:cNvSpPr/>
          <p:nvPr/>
        </p:nvSpPr>
        <p:spPr>
          <a:xfrm>
            <a:off x="4919472" y="4544568"/>
            <a:ext cx="3794760" cy="292608"/>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Probability ≥ 0.5 → Predicted Active. Below 0.5 → Predicted Inactive.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BF6"/>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4332"/>
          </a:solidFill>
          <a:ln w="12700">
            <a:solidFill>
              <a:srgbClr val="1B4332"/>
            </a:solidFill>
            <a:prstDash val="solid"/>
          </a:ln>
        </p:spPr>
      </p:sp>
      <p:sp>
        <p:nvSpPr>
          <p:cNvPr id="3" name="Shape 1"/>
          <p:cNvSpPr/>
          <p:nvPr/>
        </p:nvSpPr>
        <p:spPr>
          <a:xfrm>
            <a:off x="0" y="658368"/>
            <a:ext cx="9144000" cy="50292"/>
          </a:xfrm>
          <a:prstGeom prst="rect">
            <a:avLst/>
          </a:prstGeom>
          <a:solidFill>
            <a:srgbClr val="40916C"/>
          </a:solidFill>
          <a:ln w="12700">
            <a:solidFill>
              <a:srgbClr val="40916C"/>
            </a:solidFill>
            <a:prstDash val="solid"/>
          </a:ln>
        </p:spPr>
      </p:sp>
      <p:sp>
        <p:nvSpPr>
          <p:cNvPr id="4" name="Text 2"/>
          <p:cNvSpPr/>
          <p:nvPr/>
        </p:nvSpPr>
        <p:spPr>
          <a:xfrm>
            <a:off x="320040" y="64008"/>
            <a:ext cx="8503920" cy="53035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Model Performance</a:t>
            </a:r>
            <a:endParaRPr lang="en-US" sz="2200" dirty="0"/>
          </a:p>
        </p:txBody>
      </p:sp>
      <p:sp>
        <p:nvSpPr>
          <p:cNvPr id="5" name="Text 3"/>
          <p:cNvSpPr/>
          <p:nvPr/>
        </p:nvSpPr>
        <p:spPr>
          <a:xfrm>
            <a:off x="320040" y="64008"/>
            <a:ext cx="8503920" cy="530352"/>
          </a:xfrm>
          <a:prstGeom prst="rect">
            <a:avLst/>
          </a:prstGeom>
          <a:noFill/>
          <a:ln/>
        </p:spPr>
        <p:txBody>
          <a:bodyPr wrap="square" lIns="0" tIns="0" rIns="0" bIns="0" rtlCol="0" anchor="b"/>
          <a:lstStyle/>
          <a:p>
            <a:pPr algn="r" indent="0" marL="0">
              <a:buNone/>
            </a:pPr>
            <a:r>
              <a:rPr lang="en-US" sz="1100" dirty="0">
                <a:solidFill>
                  <a:srgbClr val="95D5B2"/>
                </a:solidFill>
                <a:latin typeface="Calibri" pitchFamily="34" charset="0"/>
                <a:ea typeface="Calibri" pitchFamily="34" charset="-122"/>
                <a:cs typeface="Calibri" pitchFamily="34" charset="-120"/>
              </a:rPr>
              <a:t>Results on held-out test data</a:t>
            </a:r>
            <a:endParaRPr lang="en-US" sz="1100" dirty="0"/>
          </a:p>
        </p:txBody>
      </p:sp>
      <p:sp>
        <p:nvSpPr>
          <p:cNvPr id="6" name="Shape 4"/>
          <p:cNvSpPr/>
          <p:nvPr/>
        </p:nvSpPr>
        <p:spPr>
          <a:xfrm>
            <a:off x="0" y="4983480"/>
            <a:ext cx="9144000" cy="160020"/>
          </a:xfrm>
          <a:prstGeom prst="rect">
            <a:avLst/>
          </a:prstGeom>
          <a:solidFill>
            <a:srgbClr val="1B4332"/>
          </a:solidFill>
          <a:ln w="12700">
            <a:solidFill>
              <a:srgbClr val="1B4332"/>
            </a:solidFill>
            <a:prstDash val="solid"/>
          </a:ln>
        </p:spPr>
      </p:sp>
      <p:sp>
        <p:nvSpPr>
          <p:cNvPr id="7" name="Text 5"/>
          <p:cNvSpPr/>
          <p:nvPr/>
        </p:nvSpPr>
        <p:spPr>
          <a:xfrm>
            <a:off x="274320" y="4983480"/>
            <a:ext cx="8595360" cy="160020"/>
          </a:xfrm>
          <a:prstGeom prst="rect">
            <a:avLst/>
          </a:prstGeom>
          <a:noFill/>
          <a:ln/>
        </p:spPr>
        <p:txBody>
          <a:bodyPr wrap="square" lIns="0" tIns="0" rIns="0" bIns="0" rtlCol="0" anchor="ctr"/>
          <a:lstStyle/>
          <a:p>
            <a:pPr indent="0" marL="0">
              <a:buNone/>
            </a:pPr>
            <a:r>
              <a:rPr lang="en-US" sz="800" dirty="0">
                <a:solidFill>
                  <a:srgbClr val="74C69D"/>
                </a:solidFill>
                <a:latin typeface="Calibri" pitchFamily="34" charset="0"/>
                <a:ea typeface="Calibri" pitchFamily="34" charset="-122"/>
                <a:cs typeface="Calibri" pitchFamily="34" charset="-120"/>
              </a:rPr>
              <a:t>DSAI 4103 – Business Analytics  |  Airline Activity Prediction</a:t>
            </a:r>
            <a:endParaRPr lang="en-US" sz="800" dirty="0"/>
          </a:p>
        </p:txBody>
      </p:sp>
      <p:sp>
        <p:nvSpPr>
          <p:cNvPr id="8" name="Shape 6"/>
          <p:cNvSpPr/>
          <p:nvPr/>
        </p:nvSpPr>
        <p:spPr>
          <a:xfrm>
            <a:off x="320040" y="822960"/>
            <a:ext cx="1901952" cy="1207008"/>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320040" y="822960"/>
            <a:ext cx="1901952" cy="64008"/>
          </a:xfrm>
          <a:prstGeom prst="rect">
            <a:avLst/>
          </a:prstGeom>
          <a:solidFill>
            <a:srgbClr val="40916C"/>
          </a:solidFill>
          <a:ln w="12700">
            <a:solidFill>
              <a:srgbClr val="40916C"/>
            </a:solidFill>
            <a:prstDash val="solid"/>
          </a:ln>
        </p:spPr>
      </p:sp>
      <p:sp>
        <p:nvSpPr>
          <p:cNvPr id="10" name="Text 8"/>
          <p:cNvSpPr/>
          <p:nvPr/>
        </p:nvSpPr>
        <p:spPr>
          <a:xfrm>
            <a:off x="393192" y="914400"/>
            <a:ext cx="1755648" cy="566928"/>
          </a:xfrm>
          <a:prstGeom prst="rect">
            <a:avLst/>
          </a:prstGeom>
          <a:noFill/>
          <a:ln/>
        </p:spPr>
        <p:txBody>
          <a:bodyPr wrap="square" lIns="0" tIns="0" rIns="0" bIns="0" rtlCol="0" anchor="ctr"/>
          <a:lstStyle/>
          <a:p>
            <a:pPr algn="ctr" indent="0" marL="0">
              <a:buNone/>
            </a:pPr>
            <a:r>
              <a:rPr lang="en-US" sz="3200" b="1" dirty="0">
                <a:solidFill>
                  <a:srgbClr val="40916C"/>
                </a:solidFill>
                <a:latin typeface="Calibri" pitchFamily="34" charset="0"/>
                <a:ea typeface="Calibri" pitchFamily="34" charset="-122"/>
                <a:cs typeface="Calibri" pitchFamily="34" charset="-120"/>
              </a:rPr>
              <a:t>0.92</a:t>
            </a:r>
            <a:endParaRPr lang="en-US" sz="3200" dirty="0"/>
          </a:p>
        </p:txBody>
      </p:sp>
      <p:sp>
        <p:nvSpPr>
          <p:cNvPr id="11" name="Text 9"/>
          <p:cNvSpPr/>
          <p:nvPr/>
        </p:nvSpPr>
        <p:spPr>
          <a:xfrm>
            <a:off x="393192" y="1463040"/>
            <a:ext cx="1755648" cy="256032"/>
          </a:xfrm>
          <a:prstGeom prst="rect">
            <a:avLst/>
          </a:prstGeom>
          <a:noFill/>
          <a:ln/>
        </p:spPr>
        <p:txBody>
          <a:bodyPr wrap="square" lIns="0" tIns="0" rIns="0" bIns="0" rtlCol="0" anchor="ctr"/>
          <a:lstStyle/>
          <a:p>
            <a:pPr algn="ctr" indent="0" marL="0">
              <a:buNone/>
            </a:pPr>
            <a:r>
              <a:rPr lang="en-US" sz="1250" b="1" dirty="0">
                <a:solidFill>
                  <a:srgbClr val="1E293B"/>
                </a:solidFill>
                <a:latin typeface="Calibri" pitchFamily="34" charset="0"/>
                <a:ea typeface="Calibri" pitchFamily="34" charset="-122"/>
                <a:cs typeface="Calibri" pitchFamily="34" charset="-120"/>
              </a:rPr>
              <a:t>ROC-AUC</a:t>
            </a:r>
            <a:endParaRPr lang="en-US" sz="1250" dirty="0"/>
          </a:p>
        </p:txBody>
      </p:sp>
      <p:sp>
        <p:nvSpPr>
          <p:cNvPr id="12" name="Text 10"/>
          <p:cNvSpPr/>
          <p:nvPr/>
        </p:nvSpPr>
        <p:spPr>
          <a:xfrm>
            <a:off x="374904" y="1719072"/>
            <a:ext cx="1792224" cy="256032"/>
          </a:xfrm>
          <a:prstGeom prst="rect">
            <a:avLst/>
          </a:prstGeom>
          <a:noFill/>
          <a:ln/>
        </p:spPr>
        <p:txBody>
          <a:bodyPr wrap="square" lIns="0" tIns="0" rIns="0" bIns="0"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Excellent class discrimination</a:t>
            </a:r>
            <a:endParaRPr lang="en-US" sz="950" dirty="0"/>
          </a:p>
        </p:txBody>
      </p:sp>
      <p:sp>
        <p:nvSpPr>
          <p:cNvPr id="13" name="Shape 11"/>
          <p:cNvSpPr/>
          <p:nvPr/>
        </p:nvSpPr>
        <p:spPr>
          <a:xfrm>
            <a:off x="2404872" y="822960"/>
            <a:ext cx="1901952" cy="1207008"/>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14" name="Shape 12"/>
          <p:cNvSpPr/>
          <p:nvPr/>
        </p:nvSpPr>
        <p:spPr>
          <a:xfrm>
            <a:off x="2404872" y="822960"/>
            <a:ext cx="1901952" cy="64008"/>
          </a:xfrm>
          <a:prstGeom prst="rect">
            <a:avLst/>
          </a:prstGeom>
          <a:solidFill>
            <a:srgbClr val="059669"/>
          </a:solidFill>
          <a:ln w="12700">
            <a:solidFill>
              <a:srgbClr val="059669"/>
            </a:solidFill>
            <a:prstDash val="solid"/>
          </a:ln>
        </p:spPr>
      </p:sp>
      <p:sp>
        <p:nvSpPr>
          <p:cNvPr id="15" name="Text 13"/>
          <p:cNvSpPr/>
          <p:nvPr/>
        </p:nvSpPr>
        <p:spPr>
          <a:xfrm>
            <a:off x="2478024" y="914400"/>
            <a:ext cx="1755648" cy="566928"/>
          </a:xfrm>
          <a:prstGeom prst="rect">
            <a:avLst/>
          </a:prstGeom>
          <a:noFill/>
          <a:ln/>
        </p:spPr>
        <p:txBody>
          <a:bodyPr wrap="square" lIns="0" tIns="0" rIns="0" bIns="0" rtlCol="0" anchor="ctr"/>
          <a:lstStyle/>
          <a:p>
            <a:pPr algn="ctr" indent="0" marL="0">
              <a:buNone/>
            </a:pPr>
            <a:r>
              <a:rPr lang="en-US" sz="3200" b="1" dirty="0">
                <a:solidFill>
                  <a:srgbClr val="059669"/>
                </a:solidFill>
                <a:latin typeface="Calibri" pitchFamily="34" charset="0"/>
                <a:ea typeface="Calibri" pitchFamily="34" charset="-122"/>
                <a:cs typeface="Calibri" pitchFamily="34" charset="-120"/>
              </a:rPr>
              <a:t>87.6%</a:t>
            </a:r>
            <a:endParaRPr lang="en-US" sz="3200" dirty="0"/>
          </a:p>
        </p:txBody>
      </p:sp>
      <p:sp>
        <p:nvSpPr>
          <p:cNvPr id="16" name="Text 14"/>
          <p:cNvSpPr/>
          <p:nvPr/>
        </p:nvSpPr>
        <p:spPr>
          <a:xfrm>
            <a:off x="2478024" y="1463040"/>
            <a:ext cx="1755648" cy="256032"/>
          </a:xfrm>
          <a:prstGeom prst="rect">
            <a:avLst/>
          </a:prstGeom>
          <a:noFill/>
          <a:ln/>
        </p:spPr>
        <p:txBody>
          <a:bodyPr wrap="square" lIns="0" tIns="0" rIns="0" bIns="0" rtlCol="0" anchor="ctr"/>
          <a:lstStyle/>
          <a:p>
            <a:pPr algn="ctr" indent="0" marL="0">
              <a:buNone/>
            </a:pPr>
            <a:r>
              <a:rPr lang="en-US" sz="1250" b="1" dirty="0">
                <a:solidFill>
                  <a:srgbClr val="1E293B"/>
                </a:solidFill>
                <a:latin typeface="Calibri" pitchFamily="34" charset="0"/>
                <a:ea typeface="Calibri" pitchFamily="34" charset="-122"/>
                <a:cs typeface="Calibri" pitchFamily="34" charset="-120"/>
              </a:rPr>
              <a:t>Accuracy</a:t>
            </a:r>
            <a:endParaRPr lang="en-US" sz="1250" dirty="0"/>
          </a:p>
        </p:txBody>
      </p:sp>
      <p:sp>
        <p:nvSpPr>
          <p:cNvPr id="17" name="Text 15"/>
          <p:cNvSpPr/>
          <p:nvPr/>
        </p:nvSpPr>
        <p:spPr>
          <a:xfrm>
            <a:off x="2459736" y="1719072"/>
            <a:ext cx="1792224" cy="256032"/>
          </a:xfrm>
          <a:prstGeom prst="rect">
            <a:avLst/>
          </a:prstGeom>
          <a:noFill/>
          <a:ln/>
        </p:spPr>
        <p:txBody>
          <a:bodyPr wrap="square" lIns="0" tIns="0" rIns="0" bIns="0"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Correct on ~88/100 predictions</a:t>
            </a:r>
            <a:endParaRPr lang="en-US" sz="950" dirty="0"/>
          </a:p>
        </p:txBody>
      </p:sp>
      <p:sp>
        <p:nvSpPr>
          <p:cNvPr id="18" name="Shape 16"/>
          <p:cNvSpPr/>
          <p:nvPr/>
        </p:nvSpPr>
        <p:spPr>
          <a:xfrm>
            <a:off x="320040" y="2148840"/>
            <a:ext cx="1901952" cy="1207008"/>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19" name="Shape 17"/>
          <p:cNvSpPr/>
          <p:nvPr/>
        </p:nvSpPr>
        <p:spPr>
          <a:xfrm>
            <a:off x="320040" y="2148840"/>
            <a:ext cx="1901952" cy="64008"/>
          </a:xfrm>
          <a:prstGeom prst="rect">
            <a:avLst/>
          </a:prstGeom>
          <a:solidFill>
            <a:srgbClr val="D4A017"/>
          </a:solidFill>
          <a:ln w="12700">
            <a:solidFill>
              <a:srgbClr val="D4A017"/>
            </a:solidFill>
            <a:prstDash val="solid"/>
          </a:ln>
        </p:spPr>
      </p:sp>
      <p:sp>
        <p:nvSpPr>
          <p:cNvPr id="20" name="Text 18"/>
          <p:cNvSpPr/>
          <p:nvPr/>
        </p:nvSpPr>
        <p:spPr>
          <a:xfrm>
            <a:off x="393192" y="2240280"/>
            <a:ext cx="1755648" cy="566928"/>
          </a:xfrm>
          <a:prstGeom prst="rect">
            <a:avLst/>
          </a:prstGeom>
          <a:noFill/>
          <a:ln/>
        </p:spPr>
        <p:txBody>
          <a:bodyPr wrap="square" lIns="0" tIns="0" rIns="0" bIns="0" rtlCol="0" anchor="ctr"/>
          <a:lstStyle/>
          <a:p>
            <a:pPr algn="ctr" indent="0" marL="0">
              <a:buNone/>
            </a:pPr>
            <a:r>
              <a:rPr lang="en-US" sz="3200" b="1" dirty="0">
                <a:solidFill>
                  <a:srgbClr val="D4A017"/>
                </a:solidFill>
                <a:latin typeface="Calibri" pitchFamily="34" charset="0"/>
                <a:ea typeface="Calibri" pitchFamily="34" charset="-122"/>
                <a:cs typeface="Calibri" pitchFamily="34" charset="-120"/>
              </a:rPr>
              <a:t>85.7%</a:t>
            </a:r>
            <a:endParaRPr lang="en-US" sz="3200" dirty="0"/>
          </a:p>
        </p:txBody>
      </p:sp>
      <p:sp>
        <p:nvSpPr>
          <p:cNvPr id="21" name="Text 19"/>
          <p:cNvSpPr/>
          <p:nvPr/>
        </p:nvSpPr>
        <p:spPr>
          <a:xfrm>
            <a:off x="393192" y="2788920"/>
            <a:ext cx="1755648" cy="256032"/>
          </a:xfrm>
          <a:prstGeom prst="rect">
            <a:avLst/>
          </a:prstGeom>
          <a:noFill/>
          <a:ln/>
        </p:spPr>
        <p:txBody>
          <a:bodyPr wrap="square" lIns="0" tIns="0" rIns="0" bIns="0" rtlCol="0" anchor="ctr"/>
          <a:lstStyle/>
          <a:p>
            <a:pPr algn="ctr" indent="0" marL="0">
              <a:buNone/>
            </a:pPr>
            <a:r>
              <a:rPr lang="en-US" sz="1250" b="1" dirty="0">
                <a:solidFill>
                  <a:srgbClr val="1E293B"/>
                </a:solidFill>
                <a:latin typeface="Calibri" pitchFamily="34" charset="0"/>
                <a:ea typeface="Calibri" pitchFamily="34" charset="-122"/>
                <a:cs typeface="Calibri" pitchFamily="34" charset="-120"/>
              </a:rPr>
              <a:t>Recall</a:t>
            </a:r>
            <a:endParaRPr lang="en-US" sz="1250" dirty="0"/>
          </a:p>
        </p:txBody>
      </p:sp>
      <p:sp>
        <p:nvSpPr>
          <p:cNvPr id="22" name="Text 20"/>
          <p:cNvSpPr/>
          <p:nvPr/>
        </p:nvSpPr>
        <p:spPr>
          <a:xfrm>
            <a:off x="374904" y="3044952"/>
            <a:ext cx="1792224" cy="256032"/>
          </a:xfrm>
          <a:prstGeom prst="rect">
            <a:avLst/>
          </a:prstGeom>
          <a:noFill/>
          <a:ln/>
        </p:spPr>
        <p:txBody>
          <a:bodyPr wrap="square" lIns="0" tIns="0" rIns="0" bIns="0"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Catches 86% of active airlines</a:t>
            </a:r>
            <a:endParaRPr lang="en-US" sz="950" dirty="0"/>
          </a:p>
        </p:txBody>
      </p:sp>
      <p:sp>
        <p:nvSpPr>
          <p:cNvPr id="23" name="Shape 21"/>
          <p:cNvSpPr/>
          <p:nvPr/>
        </p:nvSpPr>
        <p:spPr>
          <a:xfrm>
            <a:off x="2404872" y="2148840"/>
            <a:ext cx="1901952" cy="1207008"/>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24" name="Shape 22"/>
          <p:cNvSpPr/>
          <p:nvPr/>
        </p:nvSpPr>
        <p:spPr>
          <a:xfrm>
            <a:off x="2404872" y="2148840"/>
            <a:ext cx="1901952" cy="64008"/>
          </a:xfrm>
          <a:prstGeom prst="rect">
            <a:avLst/>
          </a:prstGeom>
          <a:solidFill>
            <a:srgbClr val="2D6A4F"/>
          </a:solidFill>
          <a:ln w="12700">
            <a:solidFill>
              <a:srgbClr val="2D6A4F"/>
            </a:solidFill>
            <a:prstDash val="solid"/>
          </a:ln>
        </p:spPr>
      </p:sp>
      <p:sp>
        <p:nvSpPr>
          <p:cNvPr id="25" name="Text 23"/>
          <p:cNvSpPr/>
          <p:nvPr/>
        </p:nvSpPr>
        <p:spPr>
          <a:xfrm>
            <a:off x="2478024" y="2240280"/>
            <a:ext cx="1755648" cy="566928"/>
          </a:xfrm>
          <a:prstGeom prst="rect">
            <a:avLst/>
          </a:prstGeom>
          <a:noFill/>
          <a:ln/>
        </p:spPr>
        <p:txBody>
          <a:bodyPr wrap="square" lIns="0" tIns="0" rIns="0" bIns="0" rtlCol="0" anchor="ctr"/>
          <a:lstStyle/>
          <a:p>
            <a:pPr algn="ctr" indent="0" marL="0">
              <a:buNone/>
            </a:pPr>
            <a:r>
              <a:rPr lang="en-US" sz="3200" b="1" dirty="0">
                <a:solidFill>
                  <a:srgbClr val="2D6A4F"/>
                </a:solidFill>
                <a:latin typeface="Calibri" pitchFamily="34" charset="0"/>
                <a:ea typeface="Calibri" pitchFamily="34" charset="-122"/>
                <a:cs typeface="Calibri" pitchFamily="34" charset="-120"/>
              </a:rPr>
              <a:t>0.74</a:t>
            </a:r>
            <a:endParaRPr lang="en-US" sz="3200" dirty="0"/>
          </a:p>
        </p:txBody>
      </p:sp>
      <p:sp>
        <p:nvSpPr>
          <p:cNvPr id="26" name="Text 24"/>
          <p:cNvSpPr/>
          <p:nvPr/>
        </p:nvSpPr>
        <p:spPr>
          <a:xfrm>
            <a:off x="2478024" y="2788920"/>
            <a:ext cx="1755648" cy="256032"/>
          </a:xfrm>
          <a:prstGeom prst="rect">
            <a:avLst/>
          </a:prstGeom>
          <a:noFill/>
          <a:ln/>
        </p:spPr>
        <p:txBody>
          <a:bodyPr wrap="square" lIns="0" tIns="0" rIns="0" bIns="0" rtlCol="0" anchor="ctr"/>
          <a:lstStyle/>
          <a:p>
            <a:pPr algn="ctr" indent="0" marL="0">
              <a:buNone/>
            </a:pPr>
            <a:r>
              <a:rPr lang="en-US" sz="1250" b="1" dirty="0">
                <a:solidFill>
                  <a:srgbClr val="1E293B"/>
                </a:solidFill>
                <a:latin typeface="Calibri" pitchFamily="34" charset="0"/>
                <a:ea typeface="Calibri" pitchFamily="34" charset="-122"/>
                <a:cs typeface="Calibri" pitchFamily="34" charset="-120"/>
              </a:rPr>
              <a:t>F1 Score</a:t>
            </a:r>
            <a:endParaRPr lang="en-US" sz="1250" dirty="0"/>
          </a:p>
        </p:txBody>
      </p:sp>
      <p:sp>
        <p:nvSpPr>
          <p:cNvPr id="27" name="Text 25"/>
          <p:cNvSpPr/>
          <p:nvPr/>
        </p:nvSpPr>
        <p:spPr>
          <a:xfrm>
            <a:off x="2459736" y="3044952"/>
            <a:ext cx="1792224" cy="256032"/>
          </a:xfrm>
          <a:prstGeom prst="rect">
            <a:avLst/>
          </a:prstGeom>
          <a:noFill/>
          <a:ln/>
        </p:spPr>
        <p:txBody>
          <a:bodyPr wrap="square" lIns="0" tIns="0" rIns="0" bIns="0"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Balances precision and recall</a:t>
            </a:r>
            <a:endParaRPr lang="en-US" sz="950" dirty="0"/>
          </a:p>
        </p:txBody>
      </p:sp>
      <p:sp>
        <p:nvSpPr>
          <p:cNvPr id="28" name="Shape 26"/>
          <p:cNvSpPr/>
          <p:nvPr/>
        </p:nvSpPr>
        <p:spPr>
          <a:xfrm>
            <a:off x="886968" y="3474720"/>
            <a:ext cx="1901952" cy="1207008"/>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29" name="Shape 27"/>
          <p:cNvSpPr/>
          <p:nvPr/>
        </p:nvSpPr>
        <p:spPr>
          <a:xfrm>
            <a:off x="886968" y="3474720"/>
            <a:ext cx="1901952" cy="64008"/>
          </a:xfrm>
          <a:prstGeom prst="rect">
            <a:avLst/>
          </a:prstGeom>
          <a:solidFill>
            <a:srgbClr val="1B4332"/>
          </a:solidFill>
          <a:ln w="12700">
            <a:solidFill>
              <a:srgbClr val="1B4332"/>
            </a:solidFill>
            <a:prstDash val="solid"/>
          </a:ln>
        </p:spPr>
      </p:sp>
      <p:sp>
        <p:nvSpPr>
          <p:cNvPr id="30" name="Text 28"/>
          <p:cNvSpPr/>
          <p:nvPr/>
        </p:nvSpPr>
        <p:spPr>
          <a:xfrm>
            <a:off x="960120" y="3566160"/>
            <a:ext cx="1755648" cy="566928"/>
          </a:xfrm>
          <a:prstGeom prst="rect">
            <a:avLst/>
          </a:prstGeom>
          <a:noFill/>
          <a:ln/>
        </p:spPr>
        <p:txBody>
          <a:bodyPr wrap="square" lIns="0" tIns="0" rIns="0" bIns="0" rtlCol="0" anchor="ctr"/>
          <a:lstStyle/>
          <a:p>
            <a:pPr algn="ctr" indent="0" marL="0">
              <a:buNone/>
            </a:pPr>
            <a:r>
              <a:rPr lang="en-US" sz="3200" b="1" dirty="0">
                <a:solidFill>
                  <a:srgbClr val="1B4332"/>
                </a:solidFill>
                <a:latin typeface="Calibri" pitchFamily="34" charset="0"/>
                <a:ea typeface="Calibri" pitchFamily="34" charset="-122"/>
                <a:cs typeface="Calibri" pitchFamily="34" charset="-120"/>
              </a:rPr>
              <a:t>64.8%</a:t>
            </a:r>
            <a:endParaRPr lang="en-US" sz="3200" dirty="0"/>
          </a:p>
        </p:txBody>
      </p:sp>
      <p:sp>
        <p:nvSpPr>
          <p:cNvPr id="31" name="Text 29"/>
          <p:cNvSpPr/>
          <p:nvPr/>
        </p:nvSpPr>
        <p:spPr>
          <a:xfrm>
            <a:off x="960120" y="4114800"/>
            <a:ext cx="1755648" cy="256032"/>
          </a:xfrm>
          <a:prstGeom prst="rect">
            <a:avLst/>
          </a:prstGeom>
          <a:noFill/>
          <a:ln/>
        </p:spPr>
        <p:txBody>
          <a:bodyPr wrap="square" lIns="0" tIns="0" rIns="0" bIns="0" rtlCol="0" anchor="ctr"/>
          <a:lstStyle/>
          <a:p>
            <a:pPr algn="ctr" indent="0" marL="0">
              <a:buNone/>
            </a:pPr>
            <a:r>
              <a:rPr lang="en-US" sz="1250" b="1" dirty="0">
                <a:solidFill>
                  <a:srgbClr val="1E293B"/>
                </a:solidFill>
                <a:latin typeface="Calibri" pitchFamily="34" charset="0"/>
                <a:ea typeface="Calibri" pitchFamily="34" charset="-122"/>
                <a:cs typeface="Calibri" pitchFamily="34" charset="-120"/>
              </a:rPr>
              <a:t>Precision</a:t>
            </a:r>
            <a:endParaRPr lang="en-US" sz="1250" dirty="0"/>
          </a:p>
        </p:txBody>
      </p:sp>
      <p:sp>
        <p:nvSpPr>
          <p:cNvPr id="32" name="Text 30"/>
          <p:cNvSpPr/>
          <p:nvPr/>
        </p:nvSpPr>
        <p:spPr>
          <a:xfrm>
            <a:off x="941832" y="4370832"/>
            <a:ext cx="1792224" cy="256032"/>
          </a:xfrm>
          <a:prstGeom prst="rect">
            <a:avLst/>
          </a:prstGeom>
          <a:noFill/>
          <a:ln/>
        </p:spPr>
        <p:txBody>
          <a:bodyPr wrap="square" lIns="0" tIns="0" rIns="0" bIns="0" rtlCol="0" anchor="ctr"/>
          <a:lstStyle/>
          <a:p>
            <a:pPr algn="ctr" indent="0" marL="0">
              <a:buNone/>
            </a:pPr>
            <a:r>
              <a:rPr lang="en-US" sz="950" dirty="0">
                <a:solidFill>
                  <a:srgbClr val="475569"/>
                </a:solidFill>
                <a:latin typeface="Calibri" pitchFamily="34" charset="0"/>
                <a:ea typeface="Calibri" pitchFamily="34" charset="-122"/>
                <a:cs typeface="Calibri" pitchFamily="34" charset="-120"/>
              </a:rPr>
              <a:t>65% right when predicting Active</a:t>
            </a:r>
            <a:endParaRPr lang="en-US" sz="950" dirty="0"/>
          </a:p>
        </p:txBody>
      </p:sp>
      <p:sp>
        <p:nvSpPr>
          <p:cNvPr id="33" name="Shape 31"/>
          <p:cNvSpPr/>
          <p:nvPr/>
        </p:nvSpPr>
        <p:spPr>
          <a:xfrm>
            <a:off x="4663440" y="804672"/>
            <a:ext cx="4160520" cy="406908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34" name="Shape 32"/>
          <p:cNvSpPr/>
          <p:nvPr/>
        </p:nvSpPr>
        <p:spPr>
          <a:xfrm>
            <a:off x="4663440" y="804672"/>
            <a:ext cx="4160520" cy="384048"/>
          </a:xfrm>
          <a:prstGeom prst="rect">
            <a:avLst/>
          </a:prstGeom>
          <a:solidFill>
            <a:srgbClr val="1B4332"/>
          </a:solidFill>
          <a:ln w="12700">
            <a:solidFill>
              <a:srgbClr val="1B4332"/>
            </a:solidFill>
            <a:prstDash val="solid"/>
          </a:ln>
        </p:spPr>
      </p:sp>
      <p:sp>
        <p:nvSpPr>
          <p:cNvPr id="35" name="Text 33"/>
          <p:cNvSpPr/>
          <p:nvPr/>
        </p:nvSpPr>
        <p:spPr>
          <a:xfrm>
            <a:off x="4754880" y="804672"/>
            <a:ext cx="397764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Model Performance Evaluation (Power BI)</a:t>
            </a:r>
            <a:endParaRPr lang="en-US" sz="1200" dirty="0"/>
          </a:p>
        </p:txBody>
      </p:sp>
      <p:pic>
        <p:nvPicPr>
          <p:cNvPr id="36" name="Image 0" descr="/sessions/relaxed-ecstatic-pascal/chart_model_eval_pbi.png">    </p:cNvPr>
          <p:cNvPicPr>
            <a:picLocks noChangeAspect="1"/>
          </p:cNvPicPr>
          <p:nvPr/>
        </p:nvPicPr>
        <p:blipFill>
          <a:blip r:embed="rId1"/>
          <a:stretch>
            <a:fillRect/>
          </a:stretch>
        </p:blipFill>
        <p:spPr>
          <a:xfrm>
            <a:off x="4709160" y="1207008"/>
            <a:ext cx="4069080" cy="3657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BF6"/>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4332"/>
          </a:solidFill>
          <a:ln w="12700">
            <a:solidFill>
              <a:srgbClr val="1B4332"/>
            </a:solidFill>
            <a:prstDash val="solid"/>
          </a:ln>
        </p:spPr>
      </p:sp>
      <p:sp>
        <p:nvSpPr>
          <p:cNvPr id="3" name="Shape 1"/>
          <p:cNvSpPr/>
          <p:nvPr/>
        </p:nvSpPr>
        <p:spPr>
          <a:xfrm>
            <a:off x="0" y="658368"/>
            <a:ext cx="9144000" cy="50292"/>
          </a:xfrm>
          <a:prstGeom prst="rect">
            <a:avLst/>
          </a:prstGeom>
          <a:solidFill>
            <a:srgbClr val="40916C"/>
          </a:solidFill>
          <a:ln w="12700">
            <a:solidFill>
              <a:srgbClr val="40916C"/>
            </a:solidFill>
            <a:prstDash val="solid"/>
          </a:ln>
        </p:spPr>
      </p:sp>
      <p:sp>
        <p:nvSpPr>
          <p:cNvPr id="4" name="Text 2"/>
          <p:cNvSpPr/>
          <p:nvPr/>
        </p:nvSpPr>
        <p:spPr>
          <a:xfrm>
            <a:off x="320040" y="64008"/>
            <a:ext cx="8503920" cy="53035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Model Explainability &amp; Bias Analysis</a:t>
            </a:r>
            <a:endParaRPr lang="en-US" sz="2200" dirty="0"/>
          </a:p>
        </p:txBody>
      </p:sp>
      <p:sp>
        <p:nvSpPr>
          <p:cNvPr id="5" name="Text 3"/>
          <p:cNvSpPr/>
          <p:nvPr/>
        </p:nvSpPr>
        <p:spPr>
          <a:xfrm>
            <a:off x="320040" y="64008"/>
            <a:ext cx="8503920" cy="530352"/>
          </a:xfrm>
          <a:prstGeom prst="rect">
            <a:avLst/>
          </a:prstGeom>
          <a:noFill/>
          <a:ln/>
        </p:spPr>
        <p:txBody>
          <a:bodyPr wrap="square" lIns="0" tIns="0" rIns="0" bIns="0" rtlCol="0" anchor="b"/>
          <a:lstStyle/>
          <a:p>
            <a:pPr algn="r" indent="0" marL="0">
              <a:buNone/>
            </a:pPr>
            <a:r>
              <a:rPr lang="en-US" sz="1100" dirty="0">
                <a:solidFill>
                  <a:srgbClr val="95D5B2"/>
                </a:solidFill>
                <a:latin typeface="Calibri" pitchFamily="34" charset="0"/>
                <a:ea typeface="Calibri" pitchFamily="34" charset="-122"/>
                <a:cs typeface="Calibri" pitchFamily="34" charset="-120"/>
              </a:rPr>
              <a:t>SHAP · Fairness · Transparency</a:t>
            </a:r>
            <a:endParaRPr lang="en-US" sz="1100" dirty="0"/>
          </a:p>
        </p:txBody>
      </p:sp>
      <p:sp>
        <p:nvSpPr>
          <p:cNvPr id="6" name="Shape 4"/>
          <p:cNvSpPr/>
          <p:nvPr/>
        </p:nvSpPr>
        <p:spPr>
          <a:xfrm>
            <a:off x="0" y="4983480"/>
            <a:ext cx="9144000" cy="160020"/>
          </a:xfrm>
          <a:prstGeom prst="rect">
            <a:avLst/>
          </a:prstGeom>
          <a:solidFill>
            <a:srgbClr val="1B4332"/>
          </a:solidFill>
          <a:ln w="12700">
            <a:solidFill>
              <a:srgbClr val="1B4332"/>
            </a:solidFill>
            <a:prstDash val="solid"/>
          </a:ln>
        </p:spPr>
      </p:sp>
      <p:sp>
        <p:nvSpPr>
          <p:cNvPr id="7" name="Text 5"/>
          <p:cNvSpPr/>
          <p:nvPr/>
        </p:nvSpPr>
        <p:spPr>
          <a:xfrm>
            <a:off x="274320" y="4983480"/>
            <a:ext cx="8595360" cy="160020"/>
          </a:xfrm>
          <a:prstGeom prst="rect">
            <a:avLst/>
          </a:prstGeom>
          <a:noFill/>
          <a:ln/>
        </p:spPr>
        <p:txBody>
          <a:bodyPr wrap="square" lIns="0" tIns="0" rIns="0" bIns="0" rtlCol="0" anchor="ctr"/>
          <a:lstStyle/>
          <a:p>
            <a:pPr indent="0" marL="0">
              <a:buNone/>
            </a:pPr>
            <a:r>
              <a:rPr lang="en-US" sz="800" dirty="0">
                <a:solidFill>
                  <a:srgbClr val="74C69D"/>
                </a:solidFill>
                <a:latin typeface="Calibri" pitchFamily="34" charset="0"/>
                <a:ea typeface="Calibri" pitchFamily="34" charset="-122"/>
                <a:cs typeface="Calibri" pitchFamily="34" charset="-120"/>
              </a:rPr>
              <a:t>DSAI 4103 – Business Analytics  |  Airline Activity Prediction</a:t>
            </a:r>
            <a:endParaRPr lang="en-US" sz="800" dirty="0"/>
          </a:p>
        </p:txBody>
      </p:sp>
      <p:sp>
        <p:nvSpPr>
          <p:cNvPr id="8" name="Shape 6"/>
          <p:cNvSpPr/>
          <p:nvPr/>
        </p:nvSpPr>
        <p:spPr>
          <a:xfrm>
            <a:off x="320040" y="804672"/>
            <a:ext cx="4160520" cy="406908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320040" y="804672"/>
            <a:ext cx="4160520" cy="384048"/>
          </a:xfrm>
          <a:prstGeom prst="rect">
            <a:avLst/>
          </a:prstGeom>
          <a:solidFill>
            <a:srgbClr val="1B4332"/>
          </a:solidFill>
          <a:ln w="12700">
            <a:solidFill>
              <a:srgbClr val="1B4332"/>
            </a:solidFill>
            <a:prstDash val="solid"/>
          </a:ln>
        </p:spPr>
      </p:sp>
      <p:sp>
        <p:nvSpPr>
          <p:cNvPr id="10" name="Text 8"/>
          <p:cNvSpPr/>
          <p:nvPr/>
        </p:nvSpPr>
        <p:spPr>
          <a:xfrm>
            <a:off x="411480" y="804672"/>
            <a:ext cx="397764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SHAP – Global Feature Impact</a:t>
            </a:r>
            <a:endParaRPr lang="en-US" sz="1250" dirty="0"/>
          </a:p>
        </p:txBody>
      </p:sp>
      <p:pic>
        <p:nvPicPr>
          <p:cNvPr id="11" name="Image 0" descr="/sessions/relaxed-ecstatic-pascal/mnt/Finalllll V/Powerbi_exports/fig_shap_bar.png">    </p:cNvPr>
          <p:cNvPicPr>
            <a:picLocks noChangeAspect="1"/>
          </p:cNvPicPr>
          <p:nvPr/>
        </p:nvPicPr>
        <p:blipFill>
          <a:blip r:embed="rId1"/>
          <a:stretch>
            <a:fillRect/>
          </a:stretch>
        </p:blipFill>
        <p:spPr>
          <a:xfrm>
            <a:off x="365760" y="1207008"/>
            <a:ext cx="4069080" cy="3611880"/>
          </a:xfrm>
          <a:prstGeom prst="rect">
            <a:avLst/>
          </a:prstGeom>
        </p:spPr>
      </p:pic>
      <p:sp>
        <p:nvSpPr>
          <p:cNvPr id="12" name="Shape 9"/>
          <p:cNvSpPr/>
          <p:nvPr/>
        </p:nvSpPr>
        <p:spPr>
          <a:xfrm>
            <a:off x="4663440" y="804672"/>
            <a:ext cx="4160520" cy="237744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13" name="Shape 10"/>
          <p:cNvSpPr/>
          <p:nvPr/>
        </p:nvSpPr>
        <p:spPr>
          <a:xfrm>
            <a:off x="4663440" y="804672"/>
            <a:ext cx="4160520" cy="384048"/>
          </a:xfrm>
          <a:prstGeom prst="rect">
            <a:avLst/>
          </a:prstGeom>
          <a:solidFill>
            <a:srgbClr val="40916C"/>
          </a:solidFill>
          <a:ln w="12700">
            <a:solidFill>
              <a:srgbClr val="40916C"/>
            </a:solidFill>
            <a:prstDash val="solid"/>
          </a:ln>
        </p:spPr>
      </p:sp>
      <p:sp>
        <p:nvSpPr>
          <p:cNvPr id="14" name="Text 11"/>
          <p:cNvSpPr/>
          <p:nvPr/>
        </p:nvSpPr>
        <p:spPr>
          <a:xfrm>
            <a:off x="4754880" y="804672"/>
            <a:ext cx="397764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SHAP – Feature Direction (Beeswarm)</a:t>
            </a:r>
            <a:endParaRPr lang="en-US" sz="1250" dirty="0"/>
          </a:p>
        </p:txBody>
      </p:sp>
      <p:pic>
        <p:nvPicPr>
          <p:cNvPr id="15" name="Image 1" descr="/sessions/relaxed-ecstatic-pascal/mnt/Finalllll V/Powerbi_exports/fig_shap_summary.png">    </p:cNvPr>
          <p:cNvPicPr>
            <a:picLocks noChangeAspect="1"/>
          </p:cNvPicPr>
          <p:nvPr/>
        </p:nvPicPr>
        <p:blipFill>
          <a:blip r:embed="rId2"/>
          <a:stretch>
            <a:fillRect/>
          </a:stretch>
        </p:blipFill>
        <p:spPr>
          <a:xfrm>
            <a:off x="4709160" y="1207008"/>
            <a:ext cx="4069080" cy="1920240"/>
          </a:xfrm>
          <a:prstGeom prst="rect">
            <a:avLst/>
          </a:prstGeom>
        </p:spPr>
      </p:pic>
      <p:sp>
        <p:nvSpPr>
          <p:cNvPr id="16" name="Shape 12"/>
          <p:cNvSpPr/>
          <p:nvPr/>
        </p:nvSpPr>
        <p:spPr>
          <a:xfrm>
            <a:off x="4663440" y="3291840"/>
            <a:ext cx="4160520" cy="1581912"/>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17" name="Shape 13"/>
          <p:cNvSpPr/>
          <p:nvPr/>
        </p:nvSpPr>
        <p:spPr>
          <a:xfrm>
            <a:off x="4663440" y="3291840"/>
            <a:ext cx="4160520" cy="384048"/>
          </a:xfrm>
          <a:prstGeom prst="rect">
            <a:avLst/>
          </a:prstGeom>
          <a:solidFill>
            <a:srgbClr val="D4A017"/>
          </a:solidFill>
          <a:ln w="12700">
            <a:solidFill>
              <a:srgbClr val="D4A017"/>
            </a:solidFill>
            <a:prstDash val="solid"/>
          </a:ln>
        </p:spPr>
      </p:sp>
      <p:sp>
        <p:nvSpPr>
          <p:cNvPr id="18" name="Text 14"/>
          <p:cNvSpPr/>
          <p:nvPr/>
        </p:nvSpPr>
        <p:spPr>
          <a:xfrm>
            <a:off x="4754880" y="3291840"/>
            <a:ext cx="397764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Bias Analysis – Key Findings</a:t>
            </a:r>
            <a:endParaRPr lang="en-US" sz="1250" dirty="0"/>
          </a:p>
        </p:txBody>
      </p:sp>
      <p:sp>
        <p:nvSpPr>
          <p:cNvPr id="19" name="Text 15"/>
          <p:cNvSpPr/>
          <p:nvPr/>
        </p:nvSpPr>
        <p:spPr>
          <a:xfrm>
            <a:off x="4754880" y="3703320"/>
            <a:ext cx="3977640" cy="1115568"/>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Performance is consistent across countries with enough data</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Slightly lower recall in very small countries due to fewer samples</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No systematic geographic bias was detected</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Country active rate feature adds fair geographic context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BF6"/>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4332"/>
          </a:solidFill>
          <a:ln w="12700">
            <a:solidFill>
              <a:srgbClr val="1B4332"/>
            </a:solidFill>
            <a:prstDash val="solid"/>
          </a:ln>
        </p:spPr>
      </p:sp>
      <p:sp>
        <p:nvSpPr>
          <p:cNvPr id="3" name="Shape 1"/>
          <p:cNvSpPr/>
          <p:nvPr/>
        </p:nvSpPr>
        <p:spPr>
          <a:xfrm>
            <a:off x="0" y="658368"/>
            <a:ext cx="9144000" cy="50292"/>
          </a:xfrm>
          <a:prstGeom prst="rect">
            <a:avLst/>
          </a:prstGeom>
          <a:solidFill>
            <a:srgbClr val="40916C"/>
          </a:solidFill>
          <a:ln w="12700">
            <a:solidFill>
              <a:srgbClr val="40916C"/>
            </a:solidFill>
            <a:prstDash val="solid"/>
          </a:ln>
        </p:spPr>
      </p:sp>
      <p:sp>
        <p:nvSpPr>
          <p:cNvPr id="4" name="Text 2"/>
          <p:cNvSpPr/>
          <p:nvPr/>
        </p:nvSpPr>
        <p:spPr>
          <a:xfrm>
            <a:off x="320040" y="64008"/>
            <a:ext cx="8503920" cy="53035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Power BI Dashboard Overview</a:t>
            </a:r>
            <a:endParaRPr lang="en-US" sz="2200" dirty="0"/>
          </a:p>
        </p:txBody>
      </p:sp>
      <p:sp>
        <p:nvSpPr>
          <p:cNvPr id="5" name="Text 3"/>
          <p:cNvSpPr/>
          <p:nvPr/>
        </p:nvSpPr>
        <p:spPr>
          <a:xfrm>
            <a:off x="320040" y="64008"/>
            <a:ext cx="8503920" cy="530352"/>
          </a:xfrm>
          <a:prstGeom prst="rect">
            <a:avLst/>
          </a:prstGeom>
          <a:noFill/>
          <a:ln/>
        </p:spPr>
        <p:txBody>
          <a:bodyPr wrap="square" lIns="0" tIns="0" rIns="0" bIns="0" rtlCol="0" anchor="b"/>
          <a:lstStyle/>
          <a:p>
            <a:pPr algn="r" indent="0" marL="0">
              <a:buNone/>
            </a:pPr>
            <a:r>
              <a:rPr lang="en-US" sz="1100" dirty="0">
                <a:solidFill>
                  <a:srgbClr val="95D5B2"/>
                </a:solidFill>
                <a:latin typeface="Calibri" pitchFamily="34" charset="0"/>
                <a:ea typeface="Calibri" pitchFamily="34" charset="-122"/>
                <a:cs typeface="Calibri" pitchFamily="34" charset="-120"/>
              </a:rPr>
              <a:t>Global Airline Activity &amp; Performance Analysis</a:t>
            </a:r>
            <a:endParaRPr lang="en-US" sz="1100" dirty="0"/>
          </a:p>
        </p:txBody>
      </p:sp>
      <p:sp>
        <p:nvSpPr>
          <p:cNvPr id="6" name="Shape 4"/>
          <p:cNvSpPr/>
          <p:nvPr/>
        </p:nvSpPr>
        <p:spPr>
          <a:xfrm>
            <a:off x="0" y="4983480"/>
            <a:ext cx="9144000" cy="160020"/>
          </a:xfrm>
          <a:prstGeom prst="rect">
            <a:avLst/>
          </a:prstGeom>
          <a:solidFill>
            <a:srgbClr val="1B4332"/>
          </a:solidFill>
          <a:ln w="12700">
            <a:solidFill>
              <a:srgbClr val="1B4332"/>
            </a:solidFill>
            <a:prstDash val="solid"/>
          </a:ln>
        </p:spPr>
      </p:sp>
      <p:sp>
        <p:nvSpPr>
          <p:cNvPr id="7" name="Text 5"/>
          <p:cNvSpPr/>
          <p:nvPr/>
        </p:nvSpPr>
        <p:spPr>
          <a:xfrm>
            <a:off x="274320" y="4983480"/>
            <a:ext cx="8595360" cy="160020"/>
          </a:xfrm>
          <a:prstGeom prst="rect">
            <a:avLst/>
          </a:prstGeom>
          <a:noFill/>
          <a:ln/>
        </p:spPr>
        <p:txBody>
          <a:bodyPr wrap="square" lIns="0" tIns="0" rIns="0" bIns="0" rtlCol="0" anchor="ctr"/>
          <a:lstStyle/>
          <a:p>
            <a:pPr indent="0" marL="0">
              <a:buNone/>
            </a:pPr>
            <a:r>
              <a:rPr lang="en-US" sz="800" dirty="0">
                <a:solidFill>
                  <a:srgbClr val="74C69D"/>
                </a:solidFill>
                <a:latin typeface="Calibri" pitchFamily="34" charset="0"/>
                <a:ea typeface="Calibri" pitchFamily="34" charset="-122"/>
                <a:cs typeface="Calibri" pitchFamily="34" charset="-120"/>
              </a:rPr>
              <a:t>DSAI 4103 – Business Analytics  |  Airline Activity Prediction</a:t>
            </a:r>
            <a:endParaRPr lang="en-US" sz="800" dirty="0"/>
          </a:p>
        </p:txBody>
      </p:sp>
      <p:sp>
        <p:nvSpPr>
          <p:cNvPr id="8" name="Shape 6"/>
          <p:cNvSpPr/>
          <p:nvPr/>
        </p:nvSpPr>
        <p:spPr>
          <a:xfrm>
            <a:off x="320040" y="804672"/>
            <a:ext cx="1828800" cy="804672"/>
          </a:xfrm>
          <a:prstGeom prst="rect">
            <a:avLst/>
          </a:prstGeom>
          <a:solidFill>
            <a:srgbClr val="1B4332"/>
          </a:solidFill>
          <a:ln w="12700">
            <a:solidFill>
              <a:srgbClr val="1B4332"/>
            </a:solidFill>
            <a:prstDash val="solid"/>
          </a:ln>
          <a:effectLst>
            <a:outerShdw sx="100000" sy="100000" kx="0" ky="0" algn="bl" rotWithShape="0" blurRad="101600" dist="38100" dir="8100000">
              <a:srgbClr val="000000">
                <a:alpha val="10000"/>
              </a:srgbClr>
            </a:outerShdw>
          </a:effectLst>
        </p:spPr>
      </p:sp>
      <p:sp>
        <p:nvSpPr>
          <p:cNvPr id="9" name="Text 7"/>
          <p:cNvSpPr/>
          <p:nvPr/>
        </p:nvSpPr>
        <p:spPr>
          <a:xfrm>
            <a:off x="393192" y="804672"/>
            <a:ext cx="1682496"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6,161</a:t>
            </a:r>
            <a:endParaRPr lang="en-US" sz="2600" dirty="0"/>
          </a:p>
        </p:txBody>
      </p:sp>
      <p:sp>
        <p:nvSpPr>
          <p:cNvPr id="10" name="Text 8"/>
          <p:cNvSpPr/>
          <p:nvPr/>
        </p:nvSpPr>
        <p:spPr>
          <a:xfrm>
            <a:off x="393192" y="1280160"/>
            <a:ext cx="1682496" cy="274320"/>
          </a:xfrm>
          <a:prstGeom prst="rect">
            <a:avLst/>
          </a:prstGeom>
          <a:noFill/>
          <a:ln/>
        </p:spPr>
        <p:txBody>
          <a:bodyPr wrap="square" lIns="0" tIns="0" rIns="0" bIns="0" rtlCol="0" anchor="t"/>
          <a:lstStyle/>
          <a:p>
            <a:pPr algn="ctr" indent="0" marL="0">
              <a:buNone/>
            </a:pPr>
            <a:r>
              <a:rPr lang="en-US" sz="900" dirty="0">
                <a:solidFill>
                  <a:srgbClr val="B7E4C7"/>
                </a:solidFill>
                <a:latin typeface="Calibri" pitchFamily="34" charset="0"/>
                <a:ea typeface="Calibri" pitchFamily="34" charset="-122"/>
                <a:cs typeface="Calibri" pitchFamily="34" charset="-120"/>
              </a:rPr>
              <a:t>Total Airlines</a:t>
            </a:r>
            <a:endParaRPr lang="en-US" sz="900" dirty="0"/>
          </a:p>
        </p:txBody>
      </p:sp>
      <p:sp>
        <p:nvSpPr>
          <p:cNvPr id="11" name="Shape 9"/>
          <p:cNvSpPr/>
          <p:nvPr/>
        </p:nvSpPr>
        <p:spPr>
          <a:xfrm>
            <a:off x="2331720" y="804672"/>
            <a:ext cx="1828800" cy="804672"/>
          </a:xfrm>
          <a:prstGeom prst="rect">
            <a:avLst/>
          </a:prstGeom>
          <a:solidFill>
            <a:srgbClr val="40916C"/>
          </a:solidFill>
          <a:ln w="12700">
            <a:solidFill>
              <a:srgbClr val="40916C"/>
            </a:solidFill>
            <a:prstDash val="solid"/>
          </a:ln>
          <a:effectLst>
            <a:outerShdw sx="100000" sy="100000" kx="0" ky="0" algn="bl" rotWithShape="0" blurRad="101600" dist="38100" dir="8100000">
              <a:srgbClr val="000000">
                <a:alpha val="10000"/>
              </a:srgbClr>
            </a:outerShdw>
          </a:effectLst>
        </p:spPr>
      </p:sp>
      <p:sp>
        <p:nvSpPr>
          <p:cNvPr id="12" name="Text 10"/>
          <p:cNvSpPr/>
          <p:nvPr/>
        </p:nvSpPr>
        <p:spPr>
          <a:xfrm>
            <a:off x="2404872" y="804672"/>
            <a:ext cx="1682496"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1,254</a:t>
            </a:r>
            <a:endParaRPr lang="en-US" sz="2600" dirty="0"/>
          </a:p>
        </p:txBody>
      </p:sp>
      <p:sp>
        <p:nvSpPr>
          <p:cNvPr id="13" name="Text 11"/>
          <p:cNvSpPr/>
          <p:nvPr/>
        </p:nvSpPr>
        <p:spPr>
          <a:xfrm>
            <a:off x="2404872" y="1280160"/>
            <a:ext cx="1682496" cy="274320"/>
          </a:xfrm>
          <a:prstGeom prst="rect">
            <a:avLst/>
          </a:prstGeom>
          <a:noFill/>
          <a:ln/>
        </p:spPr>
        <p:txBody>
          <a:bodyPr wrap="square" lIns="0" tIns="0" rIns="0" bIns="0" rtlCol="0" anchor="t"/>
          <a:lstStyle/>
          <a:p>
            <a:pPr algn="ctr" indent="0" marL="0">
              <a:buNone/>
            </a:pPr>
            <a:r>
              <a:rPr lang="en-US" sz="900" dirty="0">
                <a:solidFill>
                  <a:srgbClr val="B7E4C7"/>
                </a:solidFill>
                <a:latin typeface="Calibri" pitchFamily="34" charset="0"/>
                <a:ea typeface="Calibri" pitchFamily="34" charset="-122"/>
                <a:cs typeface="Calibri" pitchFamily="34" charset="-120"/>
              </a:rPr>
              <a:t>Active Airlines</a:t>
            </a:r>
            <a:endParaRPr lang="en-US" sz="900" dirty="0"/>
          </a:p>
        </p:txBody>
      </p:sp>
      <p:sp>
        <p:nvSpPr>
          <p:cNvPr id="14" name="Shape 12"/>
          <p:cNvSpPr/>
          <p:nvPr/>
        </p:nvSpPr>
        <p:spPr>
          <a:xfrm>
            <a:off x="4343400" y="804672"/>
            <a:ext cx="1828800" cy="804672"/>
          </a:xfrm>
          <a:prstGeom prst="rect">
            <a:avLst/>
          </a:prstGeom>
          <a:solidFill>
            <a:srgbClr val="D4A017"/>
          </a:solidFill>
          <a:ln w="12700">
            <a:solidFill>
              <a:srgbClr val="D4A017"/>
            </a:solidFill>
            <a:prstDash val="solid"/>
          </a:ln>
          <a:effectLst>
            <a:outerShdw sx="100000" sy="100000" kx="0" ky="0" algn="bl" rotWithShape="0" blurRad="101600" dist="38100" dir="8100000">
              <a:srgbClr val="000000">
                <a:alpha val="10000"/>
              </a:srgbClr>
            </a:outerShdw>
          </a:effectLst>
        </p:spPr>
      </p:sp>
      <p:sp>
        <p:nvSpPr>
          <p:cNvPr id="15" name="Text 13"/>
          <p:cNvSpPr/>
          <p:nvPr/>
        </p:nvSpPr>
        <p:spPr>
          <a:xfrm>
            <a:off x="4416552" y="804672"/>
            <a:ext cx="1682496"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20.35%</a:t>
            </a:r>
            <a:endParaRPr lang="en-US" sz="2600" dirty="0"/>
          </a:p>
        </p:txBody>
      </p:sp>
      <p:sp>
        <p:nvSpPr>
          <p:cNvPr id="16" name="Text 14"/>
          <p:cNvSpPr/>
          <p:nvPr/>
        </p:nvSpPr>
        <p:spPr>
          <a:xfrm>
            <a:off x="4416552" y="1280160"/>
            <a:ext cx="1682496" cy="274320"/>
          </a:xfrm>
          <a:prstGeom prst="rect">
            <a:avLst/>
          </a:prstGeom>
          <a:noFill/>
          <a:ln/>
        </p:spPr>
        <p:txBody>
          <a:bodyPr wrap="square" lIns="0" tIns="0" rIns="0" bIns="0" rtlCol="0" anchor="t"/>
          <a:lstStyle/>
          <a:p>
            <a:pPr algn="ctr" indent="0" marL="0">
              <a:buNone/>
            </a:pPr>
            <a:r>
              <a:rPr lang="en-US" sz="900" dirty="0">
                <a:solidFill>
                  <a:srgbClr val="B7E4C7"/>
                </a:solidFill>
                <a:latin typeface="Calibri" pitchFamily="34" charset="0"/>
                <a:ea typeface="Calibri" pitchFamily="34" charset="-122"/>
                <a:cs typeface="Calibri" pitchFamily="34" charset="-120"/>
              </a:rPr>
              <a:t>Active Rate (%)</a:t>
            </a:r>
            <a:endParaRPr lang="en-US" sz="900" dirty="0"/>
          </a:p>
        </p:txBody>
      </p:sp>
      <p:sp>
        <p:nvSpPr>
          <p:cNvPr id="17" name="Shape 15"/>
          <p:cNvSpPr/>
          <p:nvPr/>
        </p:nvSpPr>
        <p:spPr>
          <a:xfrm>
            <a:off x="6400800" y="804672"/>
            <a:ext cx="2423160" cy="233172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18" name="Shape 16"/>
          <p:cNvSpPr/>
          <p:nvPr/>
        </p:nvSpPr>
        <p:spPr>
          <a:xfrm>
            <a:off x="6400800" y="804672"/>
            <a:ext cx="2423160" cy="347472"/>
          </a:xfrm>
          <a:prstGeom prst="rect">
            <a:avLst/>
          </a:prstGeom>
          <a:solidFill>
            <a:srgbClr val="1B4332"/>
          </a:solidFill>
          <a:ln w="12700">
            <a:solidFill>
              <a:srgbClr val="1B4332"/>
            </a:solidFill>
            <a:prstDash val="solid"/>
          </a:ln>
        </p:spPr>
      </p:sp>
      <p:sp>
        <p:nvSpPr>
          <p:cNvPr id="19" name="Text 17"/>
          <p:cNvSpPr/>
          <p:nvPr/>
        </p:nvSpPr>
        <p:spPr>
          <a:xfrm>
            <a:off x="6492240" y="804672"/>
            <a:ext cx="2240280" cy="34747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Airline Activity Across Countries</a:t>
            </a:r>
            <a:endParaRPr lang="en-US" sz="950" dirty="0"/>
          </a:p>
        </p:txBody>
      </p:sp>
      <p:sp>
        <p:nvSpPr>
          <p:cNvPr id="20" name="Text 18"/>
          <p:cNvSpPr/>
          <p:nvPr/>
        </p:nvSpPr>
        <p:spPr>
          <a:xfrm>
            <a:off x="6492240" y="1188720"/>
            <a:ext cx="2240280" cy="1874520"/>
          </a:xfrm>
          <a:prstGeom prst="rect">
            <a:avLst/>
          </a:prstGeom>
          <a:noFill/>
          <a:ln/>
        </p:spPr>
        <p:txBody>
          <a:bodyPr wrap="square" lIns="0" tIns="0" rIns="0" bIns="0" rtlCol="0" anchor="t"/>
          <a:lstStyle/>
          <a:p>
            <a:pPr indent="0" marL="0">
              <a:spcAft>
                <a:spcPts val="300"/>
              </a:spcAft>
              <a:buNone/>
            </a:pPr>
            <a:r>
              <a:rPr lang="en-US" sz="1000" b="1" dirty="0">
                <a:solidFill>
                  <a:srgbClr val="1E293B"/>
                </a:solidFill>
                <a:latin typeface="Calibri" pitchFamily="34" charset="0"/>
                <a:ea typeface="Calibri" pitchFamily="34" charset="-122"/>
                <a:cs typeface="Calibri" pitchFamily="34" charset="-120"/>
              </a:rPr>
              <a:t>Bing Map Visualization</a:t>
            </a:r>
            <a:endParaRPr lang="en-US" sz="1000" dirty="0"/>
          </a:p>
          <a:p>
            <a:pPr indent="0" marL="0">
              <a:spcAft>
                <a:spcPts val="300"/>
              </a:spcAft>
              <a:buNone/>
            </a:pPr>
            <a:r>
              <a:rPr lang="en-US" sz="1000" dirty="0">
                <a:solidFill>
                  <a:srgbClr val="1E293B"/>
                </a:solidFill>
                <a:latin typeface="Calibri" pitchFamily="34" charset="0"/>
                <a:ea typeface="Calibri" pitchFamily="34" charset="-122"/>
                <a:cs typeface="Calibri" pitchFamily="34" charset="-120"/>
              </a:rPr>
              <a:t> </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Bubble size = Total routes</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Colour = Active rate per country</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Countries covered: 180+</a:t>
            </a:r>
            <a:endParaRPr lang="en-US" sz="1000" dirty="0"/>
          </a:p>
          <a:p>
            <a:pPr marL="342900" indent="-342900">
              <a:spcAft>
                <a:spcPts val="300"/>
              </a:spcAft>
              <a:buSzPct val="100000"/>
              <a:buChar char="•"/>
            </a:pPr>
            <a:r>
              <a:rPr lang="en-US" sz="1000" dirty="0">
                <a:solidFill>
                  <a:srgbClr val="1E293B"/>
                </a:solidFill>
                <a:latin typeface="Calibri" pitchFamily="34" charset="0"/>
                <a:ea typeface="Calibri" pitchFamily="34" charset="-122"/>
                <a:cs typeface="Calibri" pitchFamily="34" charset="-120"/>
              </a:rPr>
              <a:t>Largest hubs: US, UK, Russia, Germany</a:t>
            </a:r>
            <a:endParaRPr lang="en-US" sz="1000" dirty="0"/>
          </a:p>
        </p:txBody>
      </p:sp>
      <p:sp>
        <p:nvSpPr>
          <p:cNvPr id="21" name="Shape 19"/>
          <p:cNvSpPr/>
          <p:nvPr/>
        </p:nvSpPr>
        <p:spPr>
          <a:xfrm>
            <a:off x="320040" y="1719072"/>
            <a:ext cx="3063240" cy="315468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22" name="Shape 20"/>
          <p:cNvSpPr/>
          <p:nvPr/>
        </p:nvSpPr>
        <p:spPr>
          <a:xfrm>
            <a:off x="320040" y="1719072"/>
            <a:ext cx="3063240" cy="347472"/>
          </a:xfrm>
          <a:prstGeom prst="rect">
            <a:avLst/>
          </a:prstGeom>
          <a:solidFill>
            <a:srgbClr val="1B4332"/>
          </a:solidFill>
          <a:ln w="12700">
            <a:solidFill>
              <a:srgbClr val="1B4332"/>
            </a:solidFill>
            <a:prstDash val="solid"/>
          </a:ln>
        </p:spPr>
      </p:sp>
      <p:sp>
        <p:nvSpPr>
          <p:cNvPr id="23" name="Text 21"/>
          <p:cNvSpPr/>
          <p:nvPr/>
        </p:nvSpPr>
        <p:spPr>
          <a:xfrm>
            <a:off x="411480" y="1719072"/>
            <a:ext cx="2880360" cy="34747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Airline Distribution by Country</a:t>
            </a:r>
            <a:endParaRPr lang="en-US" sz="1050" dirty="0"/>
          </a:p>
        </p:txBody>
      </p:sp>
      <p:pic>
        <p:nvPicPr>
          <p:cNvPr id="24" name="Image 0" descr="/sessions/relaxed-ecstatic-pascal/chart_country_dist.png">    </p:cNvPr>
          <p:cNvPicPr>
            <a:picLocks noChangeAspect="1"/>
          </p:cNvPicPr>
          <p:nvPr/>
        </p:nvPicPr>
        <p:blipFill>
          <a:blip r:embed="rId1"/>
          <a:stretch>
            <a:fillRect/>
          </a:stretch>
        </p:blipFill>
        <p:spPr>
          <a:xfrm>
            <a:off x="365760" y="2084832"/>
            <a:ext cx="2971800" cy="2724912"/>
          </a:xfrm>
          <a:prstGeom prst="rect">
            <a:avLst/>
          </a:prstGeom>
        </p:spPr>
      </p:pic>
      <p:sp>
        <p:nvSpPr>
          <p:cNvPr id="25" name="Shape 22"/>
          <p:cNvSpPr/>
          <p:nvPr/>
        </p:nvSpPr>
        <p:spPr>
          <a:xfrm>
            <a:off x="3520440" y="1719072"/>
            <a:ext cx="2697480" cy="315468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26" name="Shape 23"/>
          <p:cNvSpPr/>
          <p:nvPr/>
        </p:nvSpPr>
        <p:spPr>
          <a:xfrm>
            <a:off x="3520440" y="1719072"/>
            <a:ext cx="2697480" cy="347472"/>
          </a:xfrm>
          <a:prstGeom prst="rect">
            <a:avLst/>
          </a:prstGeom>
          <a:solidFill>
            <a:srgbClr val="40916C"/>
          </a:solidFill>
          <a:ln w="12700">
            <a:solidFill>
              <a:srgbClr val="40916C"/>
            </a:solidFill>
            <a:prstDash val="solid"/>
          </a:ln>
        </p:spPr>
      </p:sp>
      <p:sp>
        <p:nvSpPr>
          <p:cNvPr id="27" name="Text 24"/>
          <p:cNvSpPr/>
          <p:nvPr/>
        </p:nvSpPr>
        <p:spPr>
          <a:xfrm>
            <a:off x="3611880" y="1719072"/>
            <a:ext cx="2514600" cy="34747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Airline Activity Distribution</a:t>
            </a:r>
            <a:endParaRPr lang="en-US" sz="1050" dirty="0"/>
          </a:p>
        </p:txBody>
      </p:sp>
      <p:pic>
        <p:nvPicPr>
          <p:cNvPr id="28" name="Image 1" descr="/sessions/relaxed-ecstatic-pascal/chart_pie_activity.png">    </p:cNvPr>
          <p:cNvPicPr>
            <a:picLocks noChangeAspect="1"/>
          </p:cNvPicPr>
          <p:nvPr/>
        </p:nvPicPr>
        <p:blipFill>
          <a:blip r:embed="rId2"/>
          <a:stretch>
            <a:fillRect/>
          </a:stretch>
        </p:blipFill>
        <p:spPr>
          <a:xfrm>
            <a:off x="3566160" y="2084832"/>
            <a:ext cx="2606040" cy="2724912"/>
          </a:xfrm>
          <a:prstGeom prst="rect">
            <a:avLst/>
          </a:prstGeom>
        </p:spPr>
      </p:pic>
      <p:sp>
        <p:nvSpPr>
          <p:cNvPr id="29" name="Shape 25"/>
          <p:cNvSpPr/>
          <p:nvPr/>
        </p:nvSpPr>
        <p:spPr>
          <a:xfrm>
            <a:off x="6400800" y="3246120"/>
            <a:ext cx="2423160" cy="1627632"/>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30" name="Shape 26"/>
          <p:cNvSpPr/>
          <p:nvPr/>
        </p:nvSpPr>
        <p:spPr>
          <a:xfrm>
            <a:off x="6400800" y="3246120"/>
            <a:ext cx="2423160" cy="347472"/>
          </a:xfrm>
          <a:prstGeom prst="rect">
            <a:avLst/>
          </a:prstGeom>
          <a:solidFill>
            <a:srgbClr val="D4A017"/>
          </a:solidFill>
          <a:ln w="12700">
            <a:solidFill>
              <a:srgbClr val="D4A017"/>
            </a:solidFill>
            <a:prstDash val="solid"/>
          </a:ln>
        </p:spPr>
      </p:sp>
      <p:sp>
        <p:nvSpPr>
          <p:cNvPr id="31" name="Text 27"/>
          <p:cNvSpPr/>
          <p:nvPr/>
        </p:nvSpPr>
        <p:spPr>
          <a:xfrm>
            <a:off x="6492240" y="3246120"/>
            <a:ext cx="2240280" cy="34747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Top 10 Airlines by Routes</a:t>
            </a:r>
            <a:endParaRPr lang="en-US" sz="1050" dirty="0"/>
          </a:p>
        </p:txBody>
      </p:sp>
      <p:sp>
        <p:nvSpPr>
          <p:cNvPr id="32" name="Shape 28"/>
          <p:cNvSpPr/>
          <p:nvPr/>
        </p:nvSpPr>
        <p:spPr>
          <a:xfrm>
            <a:off x="6473952" y="3639312"/>
            <a:ext cx="1508760" cy="182880"/>
          </a:xfrm>
          <a:prstGeom prst="rect">
            <a:avLst/>
          </a:prstGeom>
          <a:solidFill>
            <a:srgbClr val="00B050"/>
          </a:solidFill>
          <a:ln w="12700">
            <a:solidFill>
              <a:srgbClr val="00B050"/>
            </a:solidFill>
            <a:prstDash val="solid"/>
          </a:ln>
        </p:spPr>
      </p:sp>
      <p:sp>
        <p:nvSpPr>
          <p:cNvPr id="33" name="Text 29"/>
          <p:cNvSpPr/>
          <p:nvPr/>
        </p:nvSpPr>
        <p:spPr>
          <a:xfrm>
            <a:off x="6473952" y="3639312"/>
            <a:ext cx="2286000" cy="182880"/>
          </a:xfrm>
          <a:prstGeom prst="rect">
            <a:avLst/>
          </a:prstGeom>
          <a:noFill/>
          <a:ln/>
        </p:spPr>
        <p:txBody>
          <a:bodyPr wrap="square" lIns="0" tIns="0" rIns="0" bIns="0" rtlCol="0" anchor="ctr"/>
          <a:lstStyle/>
          <a:p>
            <a:pPr indent="0" marL="0">
              <a:buNone/>
            </a:pPr>
            <a:r>
              <a:rPr lang="en-US" sz="800" dirty="0">
                <a:solidFill>
                  <a:srgbClr val="1E293B"/>
                </a:solidFill>
                <a:latin typeface="Calibri" pitchFamily="34" charset="0"/>
                <a:ea typeface="Calibri" pitchFamily="34" charset="-122"/>
                <a:cs typeface="Calibri" pitchFamily="34" charset="-120"/>
              </a:rPr>
              <a:t>Ryanair  2.5K</a:t>
            </a:r>
            <a:endParaRPr lang="en-US" sz="800" dirty="0"/>
          </a:p>
        </p:txBody>
      </p:sp>
      <p:sp>
        <p:nvSpPr>
          <p:cNvPr id="34" name="Shape 30"/>
          <p:cNvSpPr/>
          <p:nvPr/>
        </p:nvSpPr>
        <p:spPr>
          <a:xfrm>
            <a:off x="6473952" y="3877056"/>
            <a:ext cx="1417320" cy="182880"/>
          </a:xfrm>
          <a:prstGeom prst="rect">
            <a:avLst/>
          </a:prstGeom>
          <a:solidFill>
            <a:srgbClr val="00B050"/>
          </a:solidFill>
          <a:ln w="12700">
            <a:solidFill>
              <a:srgbClr val="00B050"/>
            </a:solidFill>
            <a:prstDash val="solid"/>
          </a:ln>
        </p:spPr>
      </p:sp>
      <p:sp>
        <p:nvSpPr>
          <p:cNvPr id="35" name="Text 31"/>
          <p:cNvSpPr/>
          <p:nvPr/>
        </p:nvSpPr>
        <p:spPr>
          <a:xfrm>
            <a:off x="6473952" y="3877056"/>
            <a:ext cx="2286000" cy="182880"/>
          </a:xfrm>
          <a:prstGeom prst="rect">
            <a:avLst/>
          </a:prstGeom>
          <a:noFill/>
          <a:ln/>
        </p:spPr>
        <p:txBody>
          <a:bodyPr wrap="square" lIns="0" tIns="0" rIns="0" bIns="0" rtlCol="0" anchor="ctr"/>
          <a:lstStyle/>
          <a:p>
            <a:pPr indent="0" marL="0">
              <a:buNone/>
            </a:pPr>
            <a:r>
              <a:rPr lang="en-US" sz="800" dirty="0">
                <a:solidFill>
                  <a:srgbClr val="1E293B"/>
                </a:solidFill>
                <a:latin typeface="Calibri" pitchFamily="34" charset="0"/>
                <a:ea typeface="Calibri" pitchFamily="34" charset="-122"/>
                <a:cs typeface="Calibri" pitchFamily="34" charset="-120"/>
              </a:rPr>
              <a:t>American Airlines  2.4K</a:t>
            </a:r>
            <a:endParaRPr lang="en-US" sz="800" dirty="0"/>
          </a:p>
        </p:txBody>
      </p:sp>
      <p:sp>
        <p:nvSpPr>
          <p:cNvPr id="36" name="Shape 32"/>
          <p:cNvSpPr/>
          <p:nvPr/>
        </p:nvSpPr>
        <p:spPr>
          <a:xfrm>
            <a:off x="6473952" y="4114800"/>
            <a:ext cx="1325880" cy="182880"/>
          </a:xfrm>
          <a:prstGeom prst="rect">
            <a:avLst/>
          </a:prstGeom>
          <a:solidFill>
            <a:srgbClr val="00B050"/>
          </a:solidFill>
          <a:ln w="12700">
            <a:solidFill>
              <a:srgbClr val="00B050"/>
            </a:solidFill>
            <a:prstDash val="solid"/>
          </a:ln>
        </p:spPr>
      </p:sp>
      <p:sp>
        <p:nvSpPr>
          <p:cNvPr id="37" name="Text 33"/>
          <p:cNvSpPr/>
          <p:nvPr/>
        </p:nvSpPr>
        <p:spPr>
          <a:xfrm>
            <a:off x="6473952" y="4114800"/>
            <a:ext cx="2286000" cy="182880"/>
          </a:xfrm>
          <a:prstGeom prst="rect">
            <a:avLst/>
          </a:prstGeom>
          <a:noFill/>
          <a:ln/>
        </p:spPr>
        <p:txBody>
          <a:bodyPr wrap="square" lIns="0" tIns="0" rIns="0" bIns="0" rtlCol="0" anchor="ctr"/>
          <a:lstStyle/>
          <a:p>
            <a:pPr indent="0" marL="0">
              <a:buNone/>
            </a:pPr>
            <a:r>
              <a:rPr lang="en-US" sz="800" dirty="0">
                <a:solidFill>
                  <a:srgbClr val="1E293B"/>
                </a:solidFill>
                <a:latin typeface="Calibri" pitchFamily="34" charset="0"/>
                <a:ea typeface="Calibri" pitchFamily="34" charset="-122"/>
                <a:cs typeface="Calibri" pitchFamily="34" charset="-120"/>
              </a:rPr>
              <a:t>United Airlines  2.2K</a:t>
            </a:r>
            <a:endParaRPr lang="en-US" sz="800" dirty="0"/>
          </a:p>
        </p:txBody>
      </p:sp>
      <p:sp>
        <p:nvSpPr>
          <p:cNvPr id="38" name="Shape 34"/>
          <p:cNvSpPr/>
          <p:nvPr/>
        </p:nvSpPr>
        <p:spPr>
          <a:xfrm>
            <a:off x="6473952" y="4352544"/>
            <a:ext cx="1234440" cy="182880"/>
          </a:xfrm>
          <a:prstGeom prst="rect">
            <a:avLst/>
          </a:prstGeom>
          <a:solidFill>
            <a:srgbClr val="00B050"/>
          </a:solidFill>
          <a:ln w="12700">
            <a:solidFill>
              <a:srgbClr val="00B050"/>
            </a:solidFill>
            <a:prstDash val="solid"/>
          </a:ln>
        </p:spPr>
      </p:sp>
      <p:sp>
        <p:nvSpPr>
          <p:cNvPr id="39" name="Text 35"/>
          <p:cNvSpPr/>
          <p:nvPr/>
        </p:nvSpPr>
        <p:spPr>
          <a:xfrm>
            <a:off x="6473952" y="4352544"/>
            <a:ext cx="2286000" cy="182880"/>
          </a:xfrm>
          <a:prstGeom prst="rect">
            <a:avLst/>
          </a:prstGeom>
          <a:noFill/>
          <a:ln/>
        </p:spPr>
        <p:txBody>
          <a:bodyPr wrap="square" lIns="0" tIns="0" rIns="0" bIns="0" rtlCol="0" anchor="ctr"/>
          <a:lstStyle/>
          <a:p>
            <a:pPr indent="0" marL="0">
              <a:buNone/>
            </a:pPr>
            <a:r>
              <a:rPr lang="en-US" sz="800" dirty="0">
                <a:solidFill>
                  <a:srgbClr val="1E293B"/>
                </a:solidFill>
                <a:latin typeface="Calibri" pitchFamily="34" charset="0"/>
                <a:ea typeface="Calibri" pitchFamily="34" charset="-122"/>
                <a:cs typeface="Calibri" pitchFamily="34" charset="-120"/>
              </a:rPr>
              <a:t>Delta Air Lines  2.0K</a:t>
            </a:r>
            <a:endParaRPr lang="en-US" sz="800" dirty="0"/>
          </a:p>
        </p:txBody>
      </p:sp>
      <p:sp>
        <p:nvSpPr>
          <p:cNvPr id="40" name="Shape 36"/>
          <p:cNvSpPr/>
          <p:nvPr/>
        </p:nvSpPr>
        <p:spPr>
          <a:xfrm>
            <a:off x="6473952" y="4590288"/>
            <a:ext cx="1143000" cy="182880"/>
          </a:xfrm>
          <a:prstGeom prst="rect">
            <a:avLst/>
          </a:prstGeom>
          <a:solidFill>
            <a:srgbClr val="00B050"/>
          </a:solidFill>
          <a:ln w="12700">
            <a:solidFill>
              <a:srgbClr val="00B050"/>
            </a:solidFill>
            <a:prstDash val="solid"/>
          </a:ln>
        </p:spPr>
      </p:sp>
      <p:sp>
        <p:nvSpPr>
          <p:cNvPr id="41" name="Text 37"/>
          <p:cNvSpPr/>
          <p:nvPr/>
        </p:nvSpPr>
        <p:spPr>
          <a:xfrm>
            <a:off x="6473952" y="4590288"/>
            <a:ext cx="2286000" cy="182880"/>
          </a:xfrm>
          <a:prstGeom prst="rect">
            <a:avLst/>
          </a:prstGeom>
          <a:noFill/>
          <a:ln/>
        </p:spPr>
        <p:txBody>
          <a:bodyPr wrap="square" lIns="0" tIns="0" rIns="0" bIns="0" rtlCol="0" anchor="ctr"/>
          <a:lstStyle/>
          <a:p>
            <a:pPr indent="0" marL="0">
              <a:buNone/>
            </a:pPr>
            <a:r>
              <a:rPr lang="en-US" sz="800" dirty="0">
                <a:solidFill>
                  <a:srgbClr val="1E293B"/>
                </a:solidFill>
                <a:latin typeface="Calibri" pitchFamily="34" charset="0"/>
                <a:ea typeface="Calibri" pitchFamily="34" charset="-122"/>
                <a:cs typeface="Calibri" pitchFamily="34" charset="-120"/>
              </a:rPr>
              <a:t>US Airways  2.0K</a:t>
            </a:r>
            <a:endParaRPr lang="en-US" sz="800" dirty="0"/>
          </a:p>
        </p:txBody>
      </p:sp>
      <p:sp>
        <p:nvSpPr>
          <p:cNvPr id="42" name="Shape 38"/>
          <p:cNvSpPr/>
          <p:nvPr/>
        </p:nvSpPr>
        <p:spPr>
          <a:xfrm>
            <a:off x="320040" y="4407408"/>
            <a:ext cx="8503920" cy="457200"/>
          </a:xfrm>
          <a:prstGeom prst="rect">
            <a:avLst/>
          </a:prstGeom>
          <a:solidFill>
            <a:srgbClr val="EAF7ED"/>
          </a:solidFill>
          <a:ln w="12700">
            <a:solidFill>
              <a:srgbClr val="B7E4C7"/>
            </a:solidFill>
            <a:prstDash val="solid"/>
          </a:ln>
        </p:spPr>
      </p:sp>
      <p:sp>
        <p:nvSpPr>
          <p:cNvPr id="43" name="Text 39"/>
          <p:cNvSpPr/>
          <p:nvPr/>
        </p:nvSpPr>
        <p:spPr>
          <a:xfrm>
            <a:off x="457200" y="4425696"/>
            <a:ext cx="8229600" cy="420624"/>
          </a:xfrm>
          <a:prstGeom prst="rect">
            <a:avLst/>
          </a:prstGeom>
          <a:noFill/>
          <a:ln/>
        </p:spPr>
        <p:txBody>
          <a:bodyPr wrap="square" lIns="0" tIns="0" rIns="0" bIns="0" rtlCol="0" anchor="ctr"/>
          <a:lstStyle/>
          <a:p>
            <a:pPr indent="0" marL="0">
              <a:buNone/>
            </a:pPr>
            <a:r>
              <a:rPr lang="en-US" sz="950" b="1" dirty="0">
                <a:solidFill>
                  <a:srgbClr val="475569"/>
                </a:solidFill>
                <a:latin typeface="Calibri" pitchFamily="34" charset="0"/>
                <a:ea typeface="Calibri" pitchFamily="34" charset="-122"/>
                <a:cs typeface="Calibri" pitchFamily="34" charset="-120"/>
              </a:rPr>
              <a:t>Dashboard features: </a:t>
            </a:r>
            <a:pPr indent="0" marL="0">
              <a:buNone/>
            </a:pPr>
            <a:r>
              <a:rPr lang="en-US" sz="950" dirty="0">
                <a:solidFill>
                  <a:srgbClr val="475569"/>
                </a:solidFill>
                <a:latin typeface="Calibri" pitchFamily="34" charset="0"/>
                <a:ea typeface="Calibri" pitchFamily="34" charset="-122"/>
                <a:cs typeface="Calibri" pitchFamily="34" charset="-120"/>
              </a:rPr>
              <a:t>KPI cards  ·  Pie chart (active split)  ·  Bar chart by country  ·  Top 10 airlines table  ·  Global map (bubble = routes, color = active rate)  ·  Interactive slicers &amp; filters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BF6"/>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4332"/>
          </a:solidFill>
          <a:ln w="12700">
            <a:solidFill>
              <a:srgbClr val="1B4332"/>
            </a:solidFill>
            <a:prstDash val="solid"/>
          </a:ln>
        </p:spPr>
      </p:sp>
      <p:sp>
        <p:nvSpPr>
          <p:cNvPr id="3" name="Shape 1"/>
          <p:cNvSpPr/>
          <p:nvPr/>
        </p:nvSpPr>
        <p:spPr>
          <a:xfrm>
            <a:off x="0" y="658368"/>
            <a:ext cx="9144000" cy="50292"/>
          </a:xfrm>
          <a:prstGeom prst="rect">
            <a:avLst/>
          </a:prstGeom>
          <a:solidFill>
            <a:srgbClr val="40916C"/>
          </a:solidFill>
          <a:ln w="12700">
            <a:solidFill>
              <a:srgbClr val="40916C"/>
            </a:solidFill>
            <a:prstDash val="solid"/>
          </a:ln>
        </p:spPr>
      </p:sp>
      <p:sp>
        <p:nvSpPr>
          <p:cNvPr id="4" name="Text 2"/>
          <p:cNvSpPr/>
          <p:nvPr/>
        </p:nvSpPr>
        <p:spPr>
          <a:xfrm>
            <a:off x="320040" y="64008"/>
            <a:ext cx="8503920" cy="53035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Key Business Insights</a:t>
            </a:r>
            <a:endParaRPr lang="en-US" sz="2200" dirty="0"/>
          </a:p>
        </p:txBody>
      </p:sp>
      <p:sp>
        <p:nvSpPr>
          <p:cNvPr id="5" name="Text 3"/>
          <p:cNvSpPr/>
          <p:nvPr/>
        </p:nvSpPr>
        <p:spPr>
          <a:xfrm>
            <a:off x="320040" y="64008"/>
            <a:ext cx="8503920" cy="530352"/>
          </a:xfrm>
          <a:prstGeom prst="rect">
            <a:avLst/>
          </a:prstGeom>
          <a:noFill/>
          <a:ln/>
        </p:spPr>
        <p:txBody>
          <a:bodyPr wrap="square" lIns="0" tIns="0" rIns="0" bIns="0" rtlCol="0" anchor="b"/>
          <a:lstStyle/>
          <a:p>
            <a:pPr algn="r" indent="0" marL="0">
              <a:buNone/>
            </a:pPr>
            <a:r>
              <a:rPr lang="en-US" sz="1100" dirty="0">
                <a:solidFill>
                  <a:srgbClr val="95D5B2"/>
                </a:solidFill>
                <a:latin typeface="Calibri" pitchFamily="34" charset="0"/>
                <a:ea typeface="Calibri" pitchFamily="34" charset="-122"/>
                <a:cs typeface="Calibri" pitchFamily="34" charset="-120"/>
              </a:rPr>
              <a:t>What this means for the aviation industry</a:t>
            </a:r>
            <a:endParaRPr lang="en-US" sz="1100" dirty="0"/>
          </a:p>
        </p:txBody>
      </p:sp>
      <p:sp>
        <p:nvSpPr>
          <p:cNvPr id="6" name="Shape 4"/>
          <p:cNvSpPr/>
          <p:nvPr/>
        </p:nvSpPr>
        <p:spPr>
          <a:xfrm>
            <a:off x="0" y="4983480"/>
            <a:ext cx="9144000" cy="160020"/>
          </a:xfrm>
          <a:prstGeom prst="rect">
            <a:avLst/>
          </a:prstGeom>
          <a:solidFill>
            <a:srgbClr val="1B4332"/>
          </a:solidFill>
          <a:ln w="12700">
            <a:solidFill>
              <a:srgbClr val="1B4332"/>
            </a:solidFill>
            <a:prstDash val="solid"/>
          </a:ln>
        </p:spPr>
      </p:sp>
      <p:sp>
        <p:nvSpPr>
          <p:cNvPr id="7" name="Text 5"/>
          <p:cNvSpPr/>
          <p:nvPr/>
        </p:nvSpPr>
        <p:spPr>
          <a:xfrm>
            <a:off x="274320" y="4983480"/>
            <a:ext cx="8595360" cy="160020"/>
          </a:xfrm>
          <a:prstGeom prst="rect">
            <a:avLst/>
          </a:prstGeom>
          <a:noFill/>
          <a:ln/>
        </p:spPr>
        <p:txBody>
          <a:bodyPr wrap="square" lIns="0" tIns="0" rIns="0" bIns="0" rtlCol="0" anchor="ctr"/>
          <a:lstStyle/>
          <a:p>
            <a:pPr indent="0" marL="0">
              <a:buNone/>
            </a:pPr>
            <a:r>
              <a:rPr lang="en-US" sz="800" dirty="0">
                <a:solidFill>
                  <a:srgbClr val="74C69D"/>
                </a:solidFill>
                <a:latin typeface="Calibri" pitchFamily="34" charset="0"/>
                <a:ea typeface="Calibri" pitchFamily="34" charset="-122"/>
                <a:cs typeface="Calibri" pitchFamily="34" charset="-120"/>
              </a:rPr>
              <a:t>DSAI 4103 – Business Analytics  |  Airline Activity Prediction</a:t>
            </a:r>
            <a:endParaRPr lang="en-US" sz="800" dirty="0"/>
          </a:p>
        </p:txBody>
      </p:sp>
      <p:sp>
        <p:nvSpPr>
          <p:cNvPr id="8" name="Shape 6"/>
          <p:cNvSpPr/>
          <p:nvPr/>
        </p:nvSpPr>
        <p:spPr>
          <a:xfrm>
            <a:off x="320040" y="822960"/>
            <a:ext cx="4069080" cy="123444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320040" y="822960"/>
            <a:ext cx="640080" cy="1234440"/>
          </a:xfrm>
          <a:prstGeom prst="rect">
            <a:avLst/>
          </a:prstGeom>
          <a:solidFill>
            <a:srgbClr val="DC2626"/>
          </a:solidFill>
          <a:ln w="12700">
            <a:solidFill>
              <a:srgbClr val="DC2626"/>
            </a:solidFill>
            <a:prstDash val="solid"/>
          </a:ln>
        </p:spPr>
      </p:sp>
      <p:sp>
        <p:nvSpPr>
          <p:cNvPr id="10" name="Text 8"/>
          <p:cNvSpPr/>
          <p:nvPr/>
        </p:nvSpPr>
        <p:spPr>
          <a:xfrm>
            <a:off x="320040" y="822960"/>
            <a:ext cx="640080" cy="12344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20%</a:t>
            </a:r>
            <a:endParaRPr lang="en-US" sz="1100" dirty="0"/>
          </a:p>
        </p:txBody>
      </p:sp>
      <p:sp>
        <p:nvSpPr>
          <p:cNvPr id="11" name="Text 9"/>
          <p:cNvSpPr/>
          <p:nvPr/>
        </p:nvSpPr>
        <p:spPr>
          <a:xfrm>
            <a:off x="1033272" y="914400"/>
            <a:ext cx="3246120" cy="292608"/>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Only 1 in 5 Airlines is Active</a:t>
            </a:r>
            <a:endParaRPr lang="en-US" sz="1150" dirty="0"/>
          </a:p>
        </p:txBody>
      </p:sp>
      <p:sp>
        <p:nvSpPr>
          <p:cNvPr id="12" name="Shape 10"/>
          <p:cNvSpPr/>
          <p:nvPr/>
        </p:nvSpPr>
        <p:spPr>
          <a:xfrm>
            <a:off x="1033272" y="1207008"/>
            <a:ext cx="3108960" cy="36576"/>
          </a:xfrm>
          <a:prstGeom prst="rect">
            <a:avLst/>
          </a:prstGeom>
          <a:solidFill>
            <a:srgbClr val="CBD5E1"/>
          </a:solidFill>
          <a:ln w="12700">
            <a:solidFill>
              <a:srgbClr val="CBD5E1"/>
            </a:solidFill>
            <a:prstDash val="solid"/>
          </a:ln>
        </p:spPr>
      </p:sp>
      <p:sp>
        <p:nvSpPr>
          <p:cNvPr id="13" name="Text 11"/>
          <p:cNvSpPr/>
          <p:nvPr/>
        </p:nvSpPr>
        <p:spPr>
          <a:xfrm>
            <a:off x="1033272" y="1280160"/>
            <a:ext cx="3246120" cy="713232"/>
          </a:xfrm>
          <a:prstGeom prst="rect">
            <a:avLst/>
          </a:prstGeom>
          <a:noFill/>
          <a:ln/>
        </p:spPr>
        <p:txBody>
          <a:bodyPr wrap="square" lIns="0" tIns="0" rIns="0" bIns="0" rtlCol="0" anchor="t"/>
          <a:lstStyle/>
          <a:p>
            <a:pPr indent="0" marL="0">
              <a:buNone/>
            </a:pPr>
            <a:r>
              <a:rPr lang="en-US" sz="980" dirty="0">
                <a:solidFill>
                  <a:srgbClr val="475569"/>
                </a:solidFill>
                <a:latin typeface="Calibri" pitchFamily="34" charset="0"/>
                <a:ea typeface="Calibri" pitchFamily="34" charset="-122"/>
                <a:cs typeface="Calibri" pitchFamily="34" charset="-120"/>
              </a:rPr>
              <a:t>With just 20.35% active, the industry is highly fragmented. Most registered airlines are no longer flying – databases need regular cleansing.</a:t>
            </a:r>
            <a:endParaRPr lang="en-US" sz="980" dirty="0"/>
          </a:p>
        </p:txBody>
      </p:sp>
      <p:sp>
        <p:nvSpPr>
          <p:cNvPr id="14" name="Shape 12"/>
          <p:cNvSpPr/>
          <p:nvPr/>
        </p:nvSpPr>
        <p:spPr>
          <a:xfrm>
            <a:off x="4636008" y="822960"/>
            <a:ext cx="4069080" cy="123444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15" name="Shape 13"/>
          <p:cNvSpPr/>
          <p:nvPr/>
        </p:nvSpPr>
        <p:spPr>
          <a:xfrm>
            <a:off x="4636008" y="822960"/>
            <a:ext cx="640080" cy="1234440"/>
          </a:xfrm>
          <a:prstGeom prst="rect">
            <a:avLst/>
          </a:prstGeom>
          <a:solidFill>
            <a:srgbClr val="40916C"/>
          </a:solidFill>
          <a:ln w="12700">
            <a:solidFill>
              <a:srgbClr val="40916C"/>
            </a:solidFill>
            <a:prstDash val="solid"/>
          </a:ln>
        </p:spPr>
      </p:sp>
      <p:sp>
        <p:nvSpPr>
          <p:cNvPr id="16" name="Text 14"/>
          <p:cNvSpPr/>
          <p:nvPr/>
        </p:nvSpPr>
        <p:spPr>
          <a:xfrm>
            <a:off x="4636008" y="822960"/>
            <a:ext cx="640080" cy="12344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5349240" y="914400"/>
            <a:ext cx="3246120" cy="292608"/>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Routes Are the Clearest Signal</a:t>
            </a:r>
            <a:endParaRPr lang="en-US" sz="1150" dirty="0"/>
          </a:p>
        </p:txBody>
      </p:sp>
      <p:sp>
        <p:nvSpPr>
          <p:cNvPr id="18" name="Shape 16"/>
          <p:cNvSpPr/>
          <p:nvPr/>
        </p:nvSpPr>
        <p:spPr>
          <a:xfrm>
            <a:off x="5349240" y="1207008"/>
            <a:ext cx="3108960" cy="36576"/>
          </a:xfrm>
          <a:prstGeom prst="rect">
            <a:avLst/>
          </a:prstGeom>
          <a:solidFill>
            <a:srgbClr val="CBD5E1"/>
          </a:solidFill>
          <a:ln w="12700">
            <a:solidFill>
              <a:srgbClr val="CBD5E1"/>
            </a:solidFill>
            <a:prstDash val="solid"/>
          </a:ln>
        </p:spPr>
      </p:sp>
      <p:sp>
        <p:nvSpPr>
          <p:cNvPr id="19" name="Text 17"/>
          <p:cNvSpPr/>
          <p:nvPr/>
        </p:nvSpPr>
        <p:spPr>
          <a:xfrm>
            <a:off x="5349240" y="1280160"/>
            <a:ext cx="3246120" cy="713232"/>
          </a:xfrm>
          <a:prstGeom prst="rect">
            <a:avLst/>
          </a:prstGeom>
          <a:noFill/>
          <a:ln/>
        </p:spPr>
        <p:txBody>
          <a:bodyPr wrap="square" lIns="0" tIns="0" rIns="0" bIns="0" rtlCol="0" anchor="t"/>
          <a:lstStyle/>
          <a:p>
            <a:pPr indent="0" marL="0">
              <a:buNone/>
            </a:pPr>
            <a:r>
              <a:rPr lang="en-US" sz="980" dirty="0">
                <a:solidFill>
                  <a:srgbClr val="475569"/>
                </a:solidFill>
                <a:latin typeface="Calibri" pitchFamily="34" charset="0"/>
                <a:ea typeface="Calibri" pitchFamily="34" charset="-122"/>
                <a:cs typeface="Calibri" pitchFamily="34" charset="-120"/>
              </a:rPr>
              <a:t>If an airline is still flying, it has routes. Airlines with zero routes are 95%+ likely to be inactive. This is the simplest rule-of-thumb for data quality checks.</a:t>
            </a:r>
            <a:endParaRPr lang="en-US" sz="980" dirty="0"/>
          </a:p>
        </p:txBody>
      </p:sp>
      <p:sp>
        <p:nvSpPr>
          <p:cNvPr id="20" name="Shape 18"/>
          <p:cNvSpPr/>
          <p:nvPr/>
        </p:nvSpPr>
        <p:spPr>
          <a:xfrm>
            <a:off x="320040" y="2194560"/>
            <a:ext cx="4069080" cy="123444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21" name="Shape 19"/>
          <p:cNvSpPr/>
          <p:nvPr/>
        </p:nvSpPr>
        <p:spPr>
          <a:xfrm>
            <a:off x="320040" y="2194560"/>
            <a:ext cx="640080" cy="1234440"/>
          </a:xfrm>
          <a:prstGeom prst="rect">
            <a:avLst/>
          </a:prstGeom>
          <a:solidFill>
            <a:srgbClr val="1B4332"/>
          </a:solidFill>
          <a:ln w="12700">
            <a:solidFill>
              <a:srgbClr val="1B4332"/>
            </a:solidFill>
            <a:prstDash val="solid"/>
          </a:ln>
        </p:spPr>
      </p:sp>
      <p:sp>
        <p:nvSpPr>
          <p:cNvPr id="22" name="Text 20"/>
          <p:cNvSpPr/>
          <p:nvPr/>
        </p:nvSpPr>
        <p:spPr>
          <a:xfrm>
            <a:off x="320040" y="2194560"/>
            <a:ext cx="640080" cy="12344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3" name="Text 21"/>
          <p:cNvSpPr/>
          <p:nvPr/>
        </p:nvSpPr>
        <p:spPr>
          <a:xfrm>
            <a:off x="1033272" y="2286000"/>
            <a:ext cx="3246120" cy="292608"/>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US Dominates Global Aviation</a:t>
            </a:r>
            <a:endParaRPr lang="en-US" sz="1150" dirty="0"/>
          </a:p>
        </p:txBody>
      </p:sp>
      <p:sp>
        <p:nvSpPr>
          <p:cNvPr id="24" name="Shape 22"/>
          <p:cNvSpPr/>
          <p:nvPr/>
        </p:nvSpPr>
        <p:spPr>
          <a:xfrm>
            <a:off x="1033272" y="2578608"/>
            <a:ext cx="3108960" cy="36576"/>
          </a:xfrm>
          <a:prstGeom prst="rect">
            <a:avLst/>
          </a:prstGeom>
          <a:solidFill>
            <a:srgbClr val="CBD5E1"/>
          </a:solidFill>
          <a:ln w="12700">
            <a:solidFill>
              <a:srgbClr val="CBD5E1"/>
            </a:solidFill>
            <a:prstDash val="solid"/>
          </a:ln>
        </p:spPr>
      </p:sp>
      <p:sp>
        <p:nvSpPr>
          <p:cNvPr id="25" name="Text 23"/>
          <p:cNvSpPr/>
          <p:nvPr/>
        </p:nvSpPr>
        <p:spPr>
          <a:xfrm>
            <a:off x="1033272" y="2651760"/>
            <a:ext cx="3246120" cy="713232"/>
          </a:xfrm>
          <a:prstGeom prst="rect">
            <a:avLst/>
          </a:prstGeom>
          <a:noFill/>
          <a:ln/>
        </p:spPr>
        <p:txBody>
          <a:bodyPr wrap="square" lIns="0" tIns="0" rIns="0" bIns="0" rtlCol="0" anchor="t"/>
          <a:lstStyle/>
          <a:p>
            <a:pPr indent="0" marL="0">
              <a:buNone/>
            </a:pPr>
            <a:r>
              <a:rPr lang="en-US" sz="980" dirty="0">
                <a:solidFill>
                  <a:srgbClr val="475569"/>
                </a:solidFill>
                <a:latin typeface="Calibri" pitchFamily="34" charset="0"/>
                <a:ea typeface="Calibri" pitchFamily="34" charset="-122"/>
                <a:cs typeface="Calibri" pitchFamily="34" charset="-120"/>
              </a:rPr>
              <a:t>The United States has the highest number of airlines and maintains a relatively high active rate. Route volumes in the US are significantly larger than other countries.</a:t>
            </a:r>
            <a:endParaRPr lang="en-US" sz="980" dirty="0"/>
          </a:p>
        </p:txBody>
      </p:sp>
      <p:sp>
        <p:nvSpPr>
          <p:cNvPr id="26" name="Shape 24"/>
          <p:cNvSpPr/>
          <p:nvPr/>
        </p:nvSpPr>
        <p:spPr>
          <a:xfrm>
            <a:off x="4636008" y="2194560"/>
            <a:ext cx="4069080" cy="123444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27" name="Shape 25"/>
          <p:cNvSpPr/>
          <p:nvPr/>
        </p:nvSpPr>
        <p:spPr>
          <a:xfrm>
            <a:off x="4636008" y="2194560"/>
            <a:ext cx="640080" cy="1234440"/>
          </a:xfrm>
          <a:prstGeom prst="rect">
            <a:avLst/>
          </a:prstGeom>
          <a:solidFill>
            <a:srgbClr val="D4A017"/>
          </a:solidFill>
          <a:ln w="12700">
            <a:solidFill>
              <a:srgbClr val="D4A017"/>
            </a:solidFill>
            <a:prstDash val="solid"/>
          </a:ln>
        </p:spPr>
      </p:sp>
      <p:sp>
        <p:nvSpPr>
          <p:cNvPr id="28" name="Text 26"/>
          <p:cNvSpPr/>
          <p:nvPr/>
        </p:nvSpPr>
        <p:spPr>
          <a:xfrm>
            <a:off x="4636008" y="2194560"/>
            <a:ext cx="640080" cy="12344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9" name="Text 27"/>
          <p:cNvSpPr/>
          <p:nvPr/>
        </p:nvSpPr>
        <p:spPr>
          <a:xfrm>
            <a:off x="5349240" y="2286000"/>
            <a:ext cx="3246120" cy="292608"/>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Small Airlines Are High Risk</a:t>
            </a:r>
            <a:endParaRPr lang="en-US" sz="1150" dirty="0"/>
          </a:p>
        </p:txBody>
      </p:sp>
      <p:sp>
        <p:nvSpPr>
          <p:cNvPr id="30" name="Shape 28"/>
          <p:cNvSpPr/>
          <p:nvPr/>
        </p:nvSpPr>
        <p:spPr>
          <a:xfrm>
            <a:off x="5349240" y="2578608"/>
            <a:ext cx="3108960" cy="36576"/>
          </a:xfrm>
          <a:prstGeom prst="rect">
            <a:avLst/>
          </a:prstGeom>
          <a:solidFill>
            <a:srgbClr val="CBD5E1"/>
          </a:solidFill>
          <a:ln w="12700">
            <a:solidFill>
              <a:srgbClr val="CBD5E1"/>
            </a:solidFill>
            <a:prstDash val="solid"/>
          </a:ln>
        </p:spPr>
      </p:sp>
      <p:sp>
        <p:nvSpPr>
          <p:cNvPr id="31" name="Text 29"/>
          <p:cNvSpPr/>
          <p:nvPr/>
        </p:nvSpPr>
        <p:spPr>
          <a:xfrm>
            <a:off x="5349240" y="2651760"/>
            <a:ext cx="3246120" cy="713232"/>
          </a:xfrm>
          <a:prstGeom prst="rect">
            <a:avLst/>
          </a:prstGeom>
          <a:noFill/>
          <a:ln/>
        </p:spPr>
        <p:txBody>
          <a:bodyPr wrap="square" lIns="0" tIns="0" rIns="0" bIns="0" rtlCol="0" anchor="t"/>
          <a:lstStyle/>
          <a:p>
            <a:pPr indent="0" marL="0">
              <a:buNone/>
            </a:pPr>
            <a:r>
              <a:rPr lang="en-US" sz="980" dirty="0">
                <a:solidFill>
                  <a:srgbClr val="475569"/>
                </a:solidFill>
                <a:latin typeface="Calibri" pitchFamily="34" charset="0"/>
                <a:ea typeface="Calibri" pitchFamily="34" charset="-122"/>
                <a:cs typeface="Calibri" pitchFamily="34" charset="-120"/>
              </a:rPr>
              <a:t>Airlines with fewer than 10 routes are much more likely to become inactive. Network size is a strong proxy for business stability.</a:t>
            </a:r>
            <a:endParaRPr lang="en-US" sz="980" dirty="0"/>
          </a:p>
        </p:txBody>
      </p:sp>
      <p:sp>
        <p:nvSpPr>
          <p:cNvPr id="32" name="Shape 30"/>
          <p:cNvSpPr/>
          <p:nvPr/>
        </p:nvSpPr>
        <p:spPr>
          <a:xfrm>
            <a:off x="320040" y="3566160"/>
            <a:ext cx="4069080" cy="123444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33" name="Shape 31"/>
          <p:cNvSpPr/>
          <p:nvPr/>
        </p:nvSpPr>
        <p:spPr>
          <a:xfrm>
            <a:off x="320040" y="3566160"/>
            <a:ext cx="640080" cy="1234440"/>
          </a:xfrm>
          <a:prstGeom prst="rect">
            <a:avLst/>
          </a:prstGeom>
          <a:solidFill>
            <a:srgbClr val="2D6A4F"/>
          </a:solidFill>
          <a:ln w="12700">
            <a:solidFill>
              <a:srgbClr val="2D6A4F"/>
            </a:solidFill>
            <a:prstDash val="solid"/>
          </a:ln>
        </p:spPr>
      </p:sp>
      <p:sp>
        <p:nvSpPr>
          <p:cNvPr id="34" name="Text 32"/>
          <p:cNvSpPr/>
          <p:nvPr/>
        </p:nvSpPr>
        <p:spPr>
          <a:xfrm>
            <a:off x="320040" y="3566160"/>
            <a:ext cx="640080" cy="12344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ID</a:t>
            </a:r>
            <a:endParaRPr lang="en-US" sz="1800" dirty="0"/>
          </a:p>
        </p:txBody>
      </p:sp>
      <p:sp>
        <p:nvSpPr>
          <p:cNvPr id="35" name="Text 33"/>
          <p:cNvSpPr/>
          <p:nvPr/>
        </p:nvSpPr>
        <p:spPr>
          <a:xfrm>
            <a:off x="1033272" y="3657600"/>
            <a:ext cx="3246120" cy="292608"/>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Identifiers Reflect Credibility</a:t>
            </a:r>
            <a:endParaRPr lang="en-US" sz="1150" dirty="0"/>
          </a:p>
        </p:txBody>
      </p:sp>
      <p:sp>
        <p:nvSpPr>
          <p:cNvPr id="36" name="Shape 34"/>
          <p:cNvSpPr/>
          <p:nvPr/>
        </p:nvSpPr>
        <p:spPr>
          <a:xfrm>
            <a:off x="1033272" y="3950208"/>
            <a:ext cx="3108960" cy="36576"/>
          </a:xfrm>
          <a:prstGeom prst="rect">
            <a:avLst/>
          </a:prstGeom>
          <a:solidFill>
            <a:srgbClr val="CBD5E1"/>
          </a:solidFill>
          <a:ln w="12700">
            <a:solidFill>
              <a:srgbClr val="CBD5E1"/>
            </a:solidFill>
            <a:prstDash val="solid"/>
          </a:ln>
        </p:spPr>
      </p:sp>
      <p:sp>
        <p:nvSpPr>
          <p:cNvPr id="37" name="Text 35"/>
          <p:cNvSpPr/>
          <p:nvPr/>
        </p:nvSpPr>
        <p:spPr>
          <a:xfrm>
            <a:off x="1033272" y="4023360"/>
            <a:ext cx="3246120" cy="713232"/>
          </a:xfrm>
          <a:prstGeom prst="rect">
            <a:avLst/>
          </a:prstGeom>
          <a:noFill/>
          <a:ln/>
        </p:spPr>
        <p:txBody>
          <a:bodyPr wrap="square" lIns="0" tIns="0" rIns="0" bIns="0" rtlCol="0" anchor="t"/>
          <a:lstStyle/>
          <a:p>
            <a:pPr indent="0" marL="0">
              <a:buNone/>
            </a:pPr>
            <a:r>
              <a:rPr lang="en-US" sz="980" dirty="0">
                <a:solidFill>
                  <a:srgbClr val="475569"/>
                </a:solidFill>
                <a:latin typeface="Calibri" pitchFamily="34" charset="0"/>
                <a:ea typeface="Calibri" pitchFamily="34" charset="-122"/>
                <a:cs typeface="Calibri" pitchFamily="34" charset="-120"/>
              </a:rPr>
              <a:t>Airlines with IATA, ICAO, and Callsign identifiers are far more likely to be active. Missing identifiers are red flags for data quality and airline viability.</a:t>
            </a:r>
            <a:endParaRPr lang="en-US" sz="980" dirty="0"/>
          </a:p>
        </p:txBody>
      </p:sp>
      <p:sp>
        <p:nvSpPr>
          <p:cNvPr id="38" name="Shape 36"/>
          <p:cNvSpPr/>
          <p:nvPr/>
        </p:nvSpPr>
        <p:spPr>
          <a:xfrm>
            <a:off x="4636008" y="3566160"/>
            <a:ext cx="4069080" cy="1234440"/>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39" name="Shape 37"/>
          <p:cNvSpPr/>
          <p:nvPr/>
        </p:nvSpPr>
        <p:spPr>
          <a:xfrm>
            <a:off x="4636008" y="3566160"/>
            <a:ext cx="640080" cy="1234440"/>
          </a:xfrm>
          <a:prstGeom prst="rect">
            <a:avLst/>
          </a:prstGeom>
          <a:solidFill>
            <a:srgbClr val="059669"/>
          </a:solidFill>
          <a:ln w="12700">
            <a:solidFill>
              <a:srgbClr val="059669"/>
            </a:solidFill>
            <a:prstDash val="solid"/>
          </a:ln>
        </p:spPr>
      </p:sp>
      <p:sp>
        <p:nvSpPr>
          <p:cNvPr id="40" name="Text 38"/>
          <p:cNvSpPr/>
          <p:nvPr/>
        </p:nvSpPr>
        <p:spPr>
          <a:xfrm>
            <a:off x="4636008" y="3566160"/>
            <a:ext cx="640080" cy="12344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1" name="Text 39"/>
          <p:cNvSpPr/>
          <p:nvPr/>
        </p:nvSpPr>
        <p:spPr>
          <a:xfrm>
            <a:off x="5349240" y="3657600"/>
            <a:ext cx="3246120" cy="292608"/>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Model Ready for Deployment</a:t>
            </a:r>
            <a:endParaRPr lang="en-US" sz="1150" dirty="0"/>
          </a:p>
        </p:txBody>
      </p:sp>
      <p:sp>
        <p:nvSpPr>
          <p:cNvPr id="42" name="Shape 40"/>
          <p:cNvSpPr/>
          <p:nvPr/>
        </p:nvSpPr>
        <p:spPr>
          <a:xfrm>
            <a:off x="5349240" y="3950208"/>
            <a:ext cx="3108960" cy="36576"/>
          </a:xfrm>
          <a:prstGeom prst="rect">
            <a:avLst/>
          </a:prstGeom>
          <a:solidFill>
            <a:srgbClr val="CBD5E1"/>
          </a:solidFill>
          <a:ln w="12700">
            <a:solidFill>
              <a:srgbClr val="CBD5E1"/>
            </a:solidFill>
            <a:prstDash val="solid"/>
          </a:ln>
        </p:spPr>
      </p:sp>
      <p:sp>
        <p:nvSpPr>
          <p:cNvPr id="43" name="Text 41"/>
          <p:cNvSpPr/>
          <p:nvPr/>
        </p:nvSpPr>
        <p:spPr>
          <a:xfrm>
            <a:off x="5349240" y="4023360"/>
            <a:ext cx="3246120" cy="713232"/>
          </a:xfrm>
          <a:prstGeom prst="rect">
            <a:avLst/>
          </a:prstGeom>
          <a:noFill/>
          <a:ln/>
        </p:spPr>
        <p:txBody>
          <a:bodyPr wrap="square" lIns="0" tIns="0" rIns="0" bIns="0" rtlCol="0" anchor="t"/>
          <a:lstStyle/>
          <a:p>
            <a:pPr indent="0" marL="0">
              <a:buNone/>
            </a:pPr>
            <a:r>
              <a:rPr lang="en-US" sz="980" dirty="0">
                <a:solidFill>
                  <a:srgbClr val="475569"/>
                </a:solidFill>
                <a:latin typeface="Calibri" pitchFamily="34" charset="0"/>
                <a:ea typeface="Calibri" pitchFamily="34" charset="-122"/>
                <a:cs typeface="Calibri" pitchFamily="34" charset="-120"/>
              </a:rPr>
              <a:t>The scoring script and packaged model allow any team to run predictions on new airline data with a single command – making this immediately operational.</a:t>
            </a:r>
            <a:endParaRPr lang="en-US" sz="9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BF6"/>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4332"/>
          </a:solidFill>
          <a:ln w="12700">
            <a:solidFill>
              <a:srgbClr val="1B4332"/>
            </a:solidFill>
            <a:prstDash val="solid"/>
          </a:ln>
        </p:spPr>
      </p:sp>
      <p:sp>
        <p:nvSpPr>
          <p:cNvPr id="3" name="Shape 1"/>
          <p:cNvSpPr/>
          <p:nvPr/>
        </p:nvSpPr>
        <p:spPr>
          <a:xfrm>
            <a:off x="0" y="658368"/>
            <a:ext cx="9144000" cy="50292"/>
          </a:xfrm>
          <a:prstGeom prst="rect">
            <a:avLst/>
          </a:prstGeom>
          <a:solidFill>
            <a:srgbClr val="40916C"/>
          </a:solidFill>
          <a:ln w="12700">
            <a:solidFill>
              <a:srgbClr val="40916C"/>
            </a:solidFill>
            <a:prstDash val="solid"/>
          </a:ln>
        </p:spPr>
      </p:sp>
      <p:sp>
        <p:nvSpPr>
          <p:cNvPr id="4" name="Text 2"/>
          <p:cNvSpPr/>
          <p:nvPr/>
        </p:nvSpPr>
        <p:spPr>
          <a:xfrm>
            <a:off x="320040" y="64008"/>
            <a:ext cx="8503920" cy="530352"/>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Recommendations</a:t>
            </a:r>
            <a:endParaRPr lang="en-US" sz="2200" dirty="0"/>
          </a:p>
        </p:txBody>
      </p:sp>
      <p:sp>
        <p:nvSpPr>
          <p:cNvPr id="5" name="Text 3"/>
          <p:cNvSpPr/>
          <p:nvPr/>
        </p:nvSpPr>
        <p:spPr>
          <a:xfrm>
            <a:off x="320040" y="64008"/>
            <a:ext cx="8503920" cy="530352"/>
          </a:xfrm>
          <a:prstGeom prst="rect">
            <a:avLst/>
          </a:prstGeom>
          <a:noFill/>
          <a:ln/>
        </p:spPr>
        <p:txBody>
          <a:bodyPr wrap="square" lIns="0" tIns="0" rIns="0" bIns="0" rtlCol="0" anchor="b"/>
          <a:lstStyle/>
          <a:p>
            <a:pPr algn="r" indent="0" marL="0">
              <a:buNone/>
            </a:pPr>
            <a:r>
              <a:rPr lang="en-US" sz="1100" dirty="0">
                <a:solidFill>
                  <a:srgbClr val="95D5B2"/>
                </a:solidFill>
                <a:latin typeface="Calibri" pitchFamily="34" charset="0"/>
                <a:ea typeface="Calibri" pitchFamily="34" charset="-122"/>
                <a:cs typeface="Calibri" pitchFamily="34" charset="-120"/>
              </a:rPr>
              <a:t>Actions based on the analysis</a:t>
            </a:r>
            <a:endParaRPr lang="en-US" sz="1100" dirty="0"/>
          </a:p>
        </p:txBody>
      </p:sp>
      <p:sp>
        <p:nvSpPr>
          <p:cNvPr id="6" name="Shape 4"/>
          <p:cNvSpPr/>
          <p:nvPr/>
        </p:nvSpPr>
        <p:spPr>
          <a:xfrm>
            <a:off x="0" y="4983480"/>
            <a:ext cx="9144000" cy="160020"/>
          </a:xfrm>
          <a:prstGeom prst="rect">
            <a:avLst/>
          </a:prstGeom>
          <a:solidFill>
            <a:srgbClr val="1B4332"/>
          </a:solidFill>
          <a:ln w="12700">
            <a:solidFill>
              <a:srgbClr val="1B4332"/>
            </a:solidFill>
            <a:prstDash val="solid"/>
          </a:ln>
        </p:spPr>
      </p:sp>
      <p:sp>
        <p:nvSpPr>
          <p:cNvPr id="7" name="Text 5"/>
          <p:cNvSpPr/>
          <p:nvPr/>
        </p:nvSpPr>
        <p:spPr>
          <a:xfrm>
            <a:off x="274320" y="4983480"/>
            <a:ext cx="8595360" cy="160020"/>
          </a:xfrm>
          <a:prstGeom prst="rect">
            <a:avLst/>
          </a:prstGeom>
          <a:noFill/>
          <a:ln/>
        </p:spPr>
        <p:txBody>
          <a:bodyPr wrap="square" lIns="0" tIns="0" rIns="0" bIns="0" rtlCol="0" anchor="ctr"/>
          <a:lstStyle/>
          <a:p>
            <a:pPr indent="0" marL="0">
              <a:buNone/>
            </a:pPr>
            <a:r>
              <a:rPr lang="en-US" sz="800" dirty="0">
                <a:solidFill>
                  <a:srgbClr val="74C69D"/>
                </a:solidFill>
                <a:latin typeface="Calibri" pitchFamily="34" charset="0"/>
                <a:ea typeface="Calibri" pitchFamily="34" charset="-122"/>
                <a:cs typeface="Calibri" pitchFamily="34" charset="-120"/>
              </a:rPr>
              <a:t>DSAI 4103 – Business Analytics  |  Airline Activity Prediction</a:t>
            </a:r>
            <a:endParaRPr lang="en-US" sz="800" dirty="0"/>
          </a:p>
        </p:txBody>
      </p:sp>
      <p:sp>
        <p:nvSpPr>
          <p:cNvPr id="8" name="Shape 6"/>
          <p:cNvSpPr/>
          <p:nvPr/>
        </p:nvSpPr>
        <p:spPr>
          <a:xfrm>
            <a:off x="320040" y="822960"/>
            <a:ext cx="4160520" cy="1261872"/>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320040" y="822960"/>
            <a:ext cx="685800" cy="1261872"/>
          </a:xfrm>
          <a:prstGeom prst="rect">
            <a:avLst/>
          </a:prstGeom>
          <a:solidFill>
            <a:srgbClr val="DC2626"/>
          </a:solidFill>
          <a:ln w="12700">
            <a:solidFill>
              <a:srgbClr val="DC2626"/>
            </a:solidFill>
            <a:prstDash val="solid"/>
          </a:ln>
        </p:spPr>
      </p:sp>
      <p:sp>
        <p:nvSpPr>
          <p:cNvPr id="10" name="Text 8"/>
          <p:cNvSpPr/>
          <p:nvPr/>
        </p:nvSpPr>
        <p:spPr>
          <a:xfrm rot="16200000">
            <a:off x="320040" y="822960"/>
            <a:ext cx="685800" cy="126187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11" name="Text 9"/>
          <p:cNvSpPr/>
          <p:nvPr/>
        </p:nvSpPr>
        <p:spPr>
          <a:xfrm>
            <a:off x="1078992" y="896112"/>
            <a:ext cx="329184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Automate Airline Status Monitoring</a:t>
            </a:r>
            <a:endParaRPr lang="en-US" sz="1100" dirty="0"/>
          </a:p>
        </p:txBody>
      </p:sp>
      <p:sp>
        <p:nvSpPr>
          <p:cNvPr id="12" name="Text 10"/>
          <p:cNvSpPr/>
          <p:nvPr/>
        </p:nvSpPr>
        <p:spPr>
          <a:xfrm>
            <a:off x="1078992" y="1170432"/>
            <a:ext cx="329184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Deploy the scoring script on a scheduled basis to continuously flag airlines whose activity status may have changed.</a:t>
            </a:r>
            <a:endParaRPr lang="en-US" sz="950" dirty="0"/>
          </a:p>
        </p:txBody>
      </p:sp>
      <p:sp>
        <p:nvSpPr>
          <p:cNvPr id="13" name="Shape 11"/>
          <p:cNvSpPr/>
          <p:nvPr/>
        </p:nvSpPr>
        <p:spPr>
          <a:xfrm>
            <a:off x="1078992" y="1792224"/>
            <a:ext cx="3291840" cy="36576"/>
          </a:xfrm>
          <a:prstGeom prst="rect">
            <a:avLst/>
          </a:prstGeom>
          <a:solidFill>
            <a:srgbClr val="CBD5E1"/>
          </a:solidFill>
          <a:ln w="12700">
            <a:solidFill>
              <a:srgbClr val="CBD5E1"/>
            </a:solidFill>
            <a:prstDash val="solid"/>
          </a:ln>
        </p:spPr>
      </p:sp>
      <p:sp>
        <p:nvSpPr>
          <p:cNvPr id="14" name="Text 12"/>
          <p:cNvSpPr/>
          <p:nvPr/>
        </p:nvSpPr>
        <p:spPr>
          <a:xfrm>
            <a:off x="1078992" y="1847088"/>
            <a:ext cx="3291840" cy="201168"/>
          </a:xfrm>
          <a:prstGeom prst="rect">
            <a:avLst/>
          </a:prstGeom>
          <a:noFill/>
          <a:ln/>
        </p:spPr>
        <p:txBody>
          <a:bodyPr wrap="square" lIns="0" tIns="0" rIns="0" bIns="0" rtlCol="0" anchor="ctr"/>
          <a:lstStyle/>
          <a:p>
            <a:pPr indent="0" marL="0">
              <a:buNone/>
            </a:pPr>
            <a:r>
              <a:rPr lang="en-US" sz="850" b="1" dirty="0">
                <a:solidFill>
                  <a:srgbClr val="40916C"/>
                </a:solidFill>
                <a:latin typeface="Calibri" pitchFamily="34" charset="0"/>
                <a:ea typeface="Calibri" pitchFamily="34" charset="-122"/>
                <a:cs typeface="Calibri" pitchFamily="34" charset="-120"/>
              </a:rPr>
              <a:t>For: Aviation Data Teams</a:t>
            </a:r>
            <a:endParaRPr lang="en-US" sz="850" dirty="0"/>
          </a:p>
        </p:txBody>
      </p:sp>
      <p:sp>
        <p:nvSpPr>
          <p:cNvPr id="15" name="Shape 13"/>
          <p:cNvSpPr/>
          <p:nvPr/>
        </p:nvSpPr>
        <p:spPr>
          <a:xfrm>
            <a:off x="4663440" y="822960"/>
            <a:ext cx="4160520" cy="1261872"/>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4663440" y="822960"/>
            <a:ext cx="685800" cy="1261872"/>
          </a:xfrm>
          <a:prstGeom prst="rect">
            <a:avLst/>
          </a:prstGeom>
          <a:solidFill>
            <a:srgbClr val="DC2626"/>
          </a:solidFill>
          <a:ln w="12700">
            <a:solidFill>
              <a:srgbClr val="DC2626"/>
            </a:solidFill>
            <a:prstDash val="solid"/>
          </a:ln>
        </p:spPr>
      </p:sp>
      <p:sp>
        <p:nvSpPr>
          <p:cNvPr id="17" name="Text 15"/>
          <p:cNvSpPr/>
          <p:nvPr/>
        </p:nvSpPr>
        <p:spPr>
          <a:xfrm rot="16200000">
            <a:off x="4663440" y="822960"/>
            <a:ext cx="685800" cy="126187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18" name="Text 16"/>
          <p:cNvSpPr/>
          <p:nvPr/>
        </p:nvSpPr>
        <p:spPr>
          <a:xfrm>
            <a:off x="5422392" y="896112"/>
            <a:ext cx="329184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Clean Inactive Airline Records</a:t>
            </a:r>
            <a:endParaRPr lang="en-US" sz="1100" dirty="0"/>
          </a:p>
        </p:txBody>
      </p:sp>
      <p:sp>
        <p:nvSpPr>
          <p:cNvPr id="19" name="Text 17"/>
          <p:cNvSpPr/>
          <p:nvPr/>
        </p:nvSpPr>
        <p:spPr>
          <a:xfrm>
            <a:off x="5422392" y="1170432"/>
            <a:ext cx="329184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Approximately 80% of registered airlines are inactive. Databases should clearly flag or archive these to improve data reliability.</a:t>
            </a:r>
            <a:endParaRPr lang="en-US" sz="950" dirty="0"/>
          </a:p>
        </p:txBody>
      </p:sp>
      <p:sp>
        <p:nvSpPr>
          <p:cNvPr id="20" name="Shape 18"/>
          <p:cNvSpPr/>
          <p:nvPr/>
        </p:nvSpPr>
        <p:spPr>
          <a:xfrm>
            <a:off x="5422392" y="1792224"/>
            <a:ext cx="3291840" cy="36576"/>
          </a:xfrm>
          <a:prstGeom prst="rect">
            <a:avLst/>
          </a:prstGeom>
          <a:solidFill>
            <a:srgbClr val="CBD5E1"/>
          </a:solidFill>
          <a:ln w="12700">
            <a:solidFill>
              <a:srgbClr val="CBD5E1"/>
            </a:solidFill>
            <a:prstDash val="solid"/>
          </a:ln>
        </p:spPr>
      </p:sp>
      <p:sp>
        <p:nvSpPr>
          <p:cNvPr id="21" name="Text 19"/>
          <p:cNvSpPr/>
          <p:nvPr/>
        </p:nvSpPr>
        <p:spPr>
          <a:xfrm>
            <a:off x="5422392" y="1847088"/>
            <a:ext cx="3291840" cy="201168"/>
          </a:xfrm>
          <a:prstGeom prst="rect">
            <a:avLst/>
          </a:prstGeom>
          <a:noFill/>
          <a:ln/>
        </p:spPr>
        <p:txBody>
          <a:bodyPr wrap="square" lIns="0" tIns="0" rIns="0" bIns="0" rtlCol="0" anchor="ctr"/>
          <a:lstStyle/>
          <a:p>
            <a:pPr indent="0" marL="0">
              <a:buNone/>
            </a:pPr>
            <a:r>
              <a:rPr lang="en-US" sz="850" b="1" dirty="0">
                <a:solidFill>
                  <a:srgbClr val="40916C"/>
                </a:solidFill>
                <a:latin typeface="Calibri" pitchFamily="34" charset="0"/>
                <a:ea typeface="Calibri" pitchFamily="34" charset="-122"/>
                <a:cs typeface="Calibri" pitchFamily="34" charset="-120"/>
              </a:rPr>
              <a:t>For: Airport Authorities &amp; Regulators</a:t>
            </a:r>
            <a:endParaRPr lang="en-US" sz="850" dirty="0"/>
          </a:p>
        </p:txBody>
      </p:sp>
      <p:sp>
        <p:nvSpPr>
          <p:cNvPr id="22" name="Shape 20"/>
          <p:cNvSpPr/>
          <p:nvPr/>
        </p:nvSpPr>
        <p:spPr>
          <a:xfrm>
            <a:off x="320040" y="2212848"/>
            <a:ext cx="4160520" cy="1261872"/>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320040" y="2212848"/>
            <a:ext cx="685800" cy="1261872"/>
          </a:xfrm>
          <a:prstGeom prst="rect">
            <a:avLst/>
          </a:prstGeom>
          <a:solidFill>
            <a:srgbClr val="D4A017"/>
          </a:solidFill>
          <a:ln w="12700">
            <a:solidFill>
              <a:srgbClr val="D4A017"/>
            </a:solidFill>
            <a:prstDash val="solid"/>
          </a:ln>
        </p:spPr>
      </p:sp>
      <p:sp>
        <p:nvSpPr>
          <p:cNvPr id="24" name="Text 22"/>
          <p:cNvSpPr/>
          <p:nvPr/>
        </p:nvSpPr>
        <p:spPr>
          <a:xfrm rot="16200000">
            <a:off x="320040" y="2212848"/>
            <a:ext cx="685800" cy="126187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MEDIUM</a:t>
            </a:r>
            <a:endParaRPr lang="en-US" sz="800" dirty="0"/>
          </a:p>
        </p:txBody>
      </p:sp>
      <p:sp>
        <p:nvSpPr>
          <p:cNvPr id="25" name="Text 23"/>
          <p:cNvSpPr/>
          <p:nvPr/>
        </p:nvSpPr>
        <p:spPr>
          <a:xfrm>
            <a:off x="1078992" y="2286000"/>
            <a:ext cx="329184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Monitor Airlines With Few Routes</a:t>
            </a:r>
            <a:endParaRPr lang="en-US" sz="1100" dirty="0"/>
          </a:p>
        </p:txBody>
      </p:sp>
      <p:sp>
        <p:nvSpPr>
          <p:cNvPr id="26" name="Text 24"/>
          <p:cNvSpPr/>
          <p:nvPr/>
        </p:nvSpPr>
        <p:spPr>
          <a:xfrm>
            <a:off x="1078992" y="2560320"/>
            <a:ext cx="329184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Airlines with fewer than 10 routes should be flagged as high-risk. Early warning systems can help avoid operational disruptions.</a:t>
            </a:r>
            <a:endParaRPr lang="en-US" sz="950" dirty="0"/>
          </a:p>
        </p:txBody>
      </p:sp>
      <p:sp>
        <p:nvSpPr>
          <p:cNvPr id="27" name="Shape 25"/>
          <p:cNvSpPr/>
          <p:nvPr/>
        </p:nvSpPr>
        <p:spPr>
          <a:xfrm>
            <a:off x="1078992" y="3182112"/>
            <a:ext cx="3291840" cy="36576"/>
          </a:xfrm>
          <a:prstGeom prst="rect">
            <a:avLst/>
          </a:prstGeom>
          <a:solidFill>
            <a:srgbClr val="CBD5E1"/>
          </a:solidFill>
          <a:ln w="12700">
            <a:solidFill>
              <a:srgbClr val="CBD5E1"/>
            </a:solidFill>
            <a:prstDash val="solid"/>
          </a:ln>
        </p:spPr>
      </p:sp>
      <p:sp>
        <p:nvSpPr>
          <p:cNvPr id="28" name="Text 26"/>
          <p:cNvSpPr/>
          <p:nvPr/>
        </p:nvSpPr>
        <p:spPr>
          <a:xfrm>
            <a:off x="1078992" y="3236976"/>
            <a:ext cx="3291840" cy="201168"/>
          </a:xfrm>
          <a:prstGeom prst="rect">
            <a:avLst/>
          </a:prstGeom>
          <a:noFill/>
          <a:ln/>
        </p:spPr>
        <p:txBody>
          <a:bodyPr wrap="square" lIns="0" tIns="0" rIns="0" bIns="0" rtlCol="0" anchor="ctr"/>
          <a:lstStyle/>
          <a:p>
            <a:pPr indent="0" marL="0">
              <a:buNone/>
            </a:pPr>
            <a:r>
              <a:rPr lang="en-US" sz="850" b="1" dirty="0">
                <a:solidFill>
                  <a:srgbClr val="40916C"/>
                </a:solidFill>
                <a:latin typeface="Calibri" pitchFamily="34" charset="0"/>
                <a:ea typeface="Calibri" pitchFamily="34" charset="-122"/>
                <a:cs typeface="Calibri" pitchFamily="34" charset="-120"/>
              </a:rPr>
              <a:t>For: Airline Partnerships &amp; Alliances</a:t>
            </a:r>
            <a:endParaRPr lang="en-US" sz="850" dirty="0"/>
          </a:p>
        </p:txBody>
      </p:sp>
      <p:sp>
        <p:nvSpPr>
          <p:cNvPr id="29" name="Shape 27"/>
          <p:cNvSpPr/>
          <p:nvPr/>
        </p:nvSpPr>
        <p:spPr>
          <a:xfrm>
            <a:off x="4663440" y="2212848"/>
            <a:ext cx="4160520" cy="1261872"/>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30" name="Shape 28"/>
          <p:cNvSpPr/>
          <p:nvPr/>
        </p:nvSpPr>
        <p:spPr>
          <a:xfrm>
            <a:off x="4663440" y="2212848"/>
            <a:ext cx="685800" cy="1261872"/>
          </a:xfrm>
          <a:prstGeom prst="rect">
            <a:avLst/>
          </a:prstGeom>
          <a:solidFill>
            <a:srgbClr val="D4A017"/>
          </a:solidFill>
          <a:ln w="12700">
            <a:solidFill>
              <a:srgbClr val="D4A017"/>
            </a:solidFill>
            <a:prstDash val="solid"/>
          </a:ln>
        </p:spPr>
      </p:sp>
      <p:sp>
        <p:nvSpPr>
          <p:cNvPr id="31" name="Text 29"/>
          <p:cNvSpPr/>
          <p:nvPr/>
        </p:nvSpPr>
        <p:spPr>
          <a:xfrm rot="16200000">
            <a:off x="4663440" y="2212848"/>
            <a:ext cx="685800" cy="126187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MEDIUM</a:t>
            </a:r>
            <a:endParaRPr lang="en-US" sz="800" dirty="0"/>
          </a:p>
        </p:txBody>
      </p:sp>
      <p:sp>
        <p:nvSpPr>
          <p:cNvPr id="32" name="Text 30"/>
          <p:cNvSpPr/>
          <p:nvPr/>
        </p:nvSpPr>
        <p:spPr>
          <a:xfrm>
            <a:off x="5422392" y="2286000"/>
            <a:ext cx="329184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Improve Identifier Coverage</a:t>
            </a:r>
            <a:endParaRPr lang="en-US" sz="1100" dirty="0"/>
          </a:p>
        </p:txBody>
      </p:sp>
      <p:sp>
        <p:nvSpPr>
          <p:cNvPr id="33" name="Text 31"/>
          <p:cNvSpPr/>
          <p:nvPr/>
        </p:nvSpPr>
        <p:spPr>
          <a:xfrm>
            <a:off x="5422392" y="2560320"/>
            <a:ext cx="329184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Many inactive airlines lack IATA/ICAO codes. Enforcing identifier standards during registration would improve future model accuracy.</a:t>
            </a:r>
            <a:endParaRPr lang="en-US" sz="950" dirty="0"/>
          </a:p>
        </p:txBody>
      </p:sp>
      <p:sp>
        <p:nvSpPr>
          <p:cNvPr id="34" name="Shape 32"/>
          <p:cNvSpPr/>
          <p:nvPr/>
        </p:nvSpPr>
        <p:spPr>
          <a:xfrm>
            <a:off x="5422392" y="3182112"/>
            <a:ext cx="3291840" cy="36576"/>
          </a:xfrm>
          <a:prstGeom prst="rect">
            <a:avLst/>
          </a:prstGeom>
          <a:solidFill>
            <a:srgbClr val="CBD5E1"/>
          </a:solidFill>
          <a:ln w="12700">
            <a:solidFill>
              <a:srgbClr val="CBD5E1"/>
            </a:solidFill>
            <a:prstDash val="solid"/>
          </a:ln>
        </p:spPr>
      </p:sp>
      <p:sp>
        <p:nvSpPr>
          <p:cNvPr id="35" name="Text 33"/>
          <p:cNvSpPr/>
          <p:nvPr/>
        </p:nvSpPr>
        <p:spPr>
          <a:xfrm>
            <a:off x="5422392" y="3236976"/>
            <a:ext cx="3291840" cy="201168"/>
          </a:xfrm>
          <a:prstGeom prst="rect">
            <a:avLst/>
          </a:prstGeom>
          <a:noFill/>
          <a:ln/>
        </p:spPr>
        <p:txBody>
          <a:bodyPr wrap="square" lIns="0" tIns="0" rIns="0" bIns="0" rtlCol="0" anchor="ctr"/>
          <a:lstStyle/>
          <a:p>
            <a:pPr indent="0" marL="0">
              <a:buNone/>
            </a:pPr>
            <a:r>
              <a:rPr lang="en-US" sz="850" b="1" dirty="0">
                <a:solidFill>
                  <a:srgbClr val="40916C"/>
                </a:solidFill>
                <a:latin typeface="Calibri" pitchFamily="34" charset="0"/>
                <a:ea typeface="Calibri" pitchFamily="34" charset="-122"/>
                <a:cs typeface="Calibri" pitchFamily="34" charset="-120"/>
              </a:rPr>
              <a:t>For: IATA &amp; Aviation Regulators</a:t>
            </a:r>
            <a:endParaRPr lang="en-US" sz="850" dirty="0"/>
          </a:p>
        </p:txBody>
      </p:sp>
      <p:sp>
        <p:nvSpPr>
          <p:cNvPr id="36" name="Shape 34"/>
          <p:cNvSpPr/>
          <p:nvPr/>
        </p:nvSpPr>
        <p:spPr>
          <a:xfrm>
            <a:off x="320040" y="3602736"/>
            <a:ext cx="4160520" cy="1261872"/>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37" name="Shape 35"/>
          <p:cNvSpPr/>
          <p:nvPr/>
        </p:nvSpPr>
        <p:spPr>
          <a:xfrm>
            <a:off x="320040" y="3602736"/>
            <a:ext cx="685800" cy="1261872"/>
          </a:xfrm>
          <a:prstGeom prst="rect">
            <a:avLst/>
          </a:prstGeom>
          <a:solidFill>
            <a:srgbClr val="40916C"/>
          </a:solidFill>
          <a:ln w="12700">
            <a:solidFill>
              <a:srgbClr val="40916C"/>
            </a:solidFill>
            <a:prstDash val="solid"/>
          </a:ln>
        </p:spPr>
      </p:sp>
      <p:sp>
        <p:nvSpPr>
          <p:cNvPr id="38" name="Text 36"/>
          <p:cNvSpPr/>
          <p:nvPr/>
        </p:nvSpPr>
        <p:spPr>
          <a:xfrm rot="16200000">
            <a:off x="320040" y="3602736"/>
            <a:ext cx="685800" cy="126187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LOW</a:t>
            </a:r>
            <a:endParaRPr lang="en-US" sz="800" dirty="0"/>
          </a:p>
        </p:txBody>
      </p:sp>
      <p:sp>
        <p:nvSpPr>
          <p:cNvPr id="39" name="Text 37"/>
          <p:cNvSpPr/>
          <p:nvPr/>
        </p:nvSpPr>
        <p:spPr>
          <a:xfrm>
            <a:off x="1078992" y="3675888"/>
            <a:ext cx="329184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Expand the Feature Set</a:t>
            </a:r>
            <a:endParaRPr lang="en-US" sz="1100" dirty="0"/>
          </a:p>
        </p:txBody>
      </p:sp>
      <p:sp>
        <p:nvSpPr>
          <p:cNvPr id="40" name="Text 38"/>
          <p:cNvSpPr/>
          <p:nvPr/>
        </p:nvSpPr>
        <p:spPr>
          <a:xfrm>
            <a:off x="1078992" y="3950208"/>
            <a:ext cx="329184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Adding financial data, fleet age, and crew information could push model accuracy above 92% AUC in future iterations.</a:t>
            </a:r>
            <a:endParaRPr lang="en-US" sz="950" dirty="0"/>
          </a:p>
        </p:txBody>
      </p:sp>
      <p:sp>
        <p:nvSpPr>
          <p:cNvPr id="41" name="Shape 39"/>
          <p:cNvSpPr/>
          <p:nvPr/>
        </p:nvSpPr>
        <p:spPr>
          <a:xfrm>
            <a:off x="1078992" y="4572000"/>
            <a:ext cx="3291840" cy="36576"/>
          </a:xfrm>
          <a:prstGeom prst="rect">
            <a:avLst/>
          </a:prstGeom>
          <a:solidFill>
            <a:srgbClr val="CBD5E1"/>
          </a:solidFill>
          <a:ln w="12700">
            <a:solidFill>
              <a:srgbClr val="CBD5E1"/>
            </a:solidFill>
            <a:prstDash val="solid"/>
          </a:ln>
        </p:spPr>
      </p:sp>
      <p:sp>
        <p:nvSpPr>
          <p:cNvPr id="42" name="Text 40"/>
          <p:cNvSpPr/>
          <p:nvPr/>
        </p:nvSpPr>
        <p:spPr>
          <a:xfrm>
            <a:off x="1078992" y="4626864"/>
            <a:ext cx="3291840" cy="201168"/>
          </a:xfrm>
          <a:prstGeom prst="rect">
            <a:avLst/>
          </a:prstGeom>
          <a:noFill/>
          <a:ln/>
        </p:spPr>
        <p:txBody>
          <a:bodyPr wrap="square" lIns="0" tIns="0" rIns="0" bIns="0" rtlCol="0" anchor="ctr"/>
          <a:lstStyle/>
          <a:p>
            <a:pPr indent="0" marL="0">
              <a:buNone/>
            </a:pPr>
            <a:r>
              <a:rPr lang="en-US" sz="850" b="1" dirty="0">
                <a:solidFill>
                  <a:srgbClr val="40916C"/>
                </a:solidFill>
                <a:latin typeface="Calibri" pitchFamily="34" charset="0"/>
                <a:ea typeface="Calibri" pitchFamily="34" charset="-122"/>
                <a:cs typeface="Calibri" pitchFamily="34" charset="-120"/>
              </a:rPr>
              <a:t>For: Data Science Teams</a:t>
            </a:r>
            <a:endParaRPr lang="en-US" sz="850" dirty="0"/>
          </a:p>
        </p:txBody>
      </p:sp>
      <p:sp>
        <p:nvSpPr>
          <p:cNvPr id="43" name="Shape 41"/>
          <p:cNvSpPr/>
          <p:nvPr/>
        </p:nvSpPr>
        <p:spPr>
          <a:xfrm>
            <a:off x="4663440" y="3602736"/>
            <a:ext cx="4160520" cy="1261872"/>
          </a:xfrm>
          <a:prstGeom prst="rect">
            <a:avLst/>
          </a:prstGeom>
          <a:solidFill>
            <a:srgbClr val="FFFFFF"/>
          </a:solidFill>
          <a:ln w="12700">
            <a:solidFill>
              <a:srgbClr val="B7E4C7"/>
            </a:solidFill>
            <a:prstDash val="solid"/>
          </a:ln>
          <a:effectLst>
            <a:outerShdw sx="100000" sy="100000" kx="0" ky="0" algn="bl" rotWithShape="0" blurRad="101600" dist="38100" dir="8100000">
              <a:srgbClr val="000000">
                <a:alpha val="10000"/>
              </a:srgbClr>
            </a:outerShdw>
          </a:effectLst>
        </p:spPr>
      </p:sp>
      <p:sp>
        <p:nvSpPr>
          <p:cNvPr id="44" name="Shape 42"/>
          <p:cNvSpPr/>
          <p:nvPr/>
        </p:nvSpPr>
        <p:spPr>
          <a:xfrm>
            <a:off x="4663440" y="3602736"/>
            <a:ext cx="685800" cy="1261872"/>
          </a:xfrm>
          <a:prstGeom prst="rect">
            <a:avLst/>
          </a:prstGeom>
          <a:solidFill>
            <a:srgbClr val="40916C"/>
          </a:solidFill>
          <a:ln w="12700">
            <a:solidFill>
              <a:srgbClr val="40916C"/>
            </a:solidFill>
            <a:prstDash val="solid"/>
          </a:ln>
        </p:spPr>
      </p:sp>
      <p:sp>
        <p:nvSpPr>
          <p:cNvPr id="45" name="Text 43"/>
          <p:cNvSpPr/>
          <p:nvPr/>
        </p:nvSpPr>
        <p:spPr>
          <a:xfrm rot="16200000">
            <a:off x="4663440" y="3602736"/>
            <a:ext cx="685800" cy="126187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LOW</a:t>
            </a:r>
            <a:endParaRPr lang="en-US" sz="800" dirty="0"/>
          </a:p>
        </p:txBody>
      </p:sp>
      <p:sp>
        <p:nvSpPr>
          <p:cNvPr id="46" name="Text 44"/>
          <p:cNvSpPr/>
          <p:nvPr/>
        </p:nvSpPr>
        <p:spPr>
          <a:xfrm>
            <a:off x="5422392" y="3675888"/>
            <a:ext cx="329184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Build Real-Time Dashboard Feeds</a:t>
            </a:r>
            <a:endParaRPr lang="en-US" sz="1100" dirty="0"/>
          </a:p>
        </p:txBody>
      </p:sp>
      <p:sp>
        <p:nvSpPr>
          <p:cNvPr id="47" name="Text 45"/>
          <p:cNvSpPr/>
          <p:nvPr/>
        </p:nvSpPr>
        <p:spPr>
          <a:xfrm>
            <a:off x="5422392" y="3950208"/>
            <a:ext cx="3291840" cy="594360"/>
          </a:xfrm>
          <a:prstGeom prst="rect">
            <a:avLst/>
          </a:prstGeom>
          <a:noFill/>
          <a:ln/>
        </p:spPr>
        <p:txBody>
          <a:bodyPr wrap="square" lIns="0" tIns="0" rIns="0" bIns="0" rtlCol="0" anchor="t"/>
          <a:lstStyle/>
          <a:p>
            <a:pPr indent="0" marL="0">
              <a:buNone/>
            </a:pPr>
            <a:r>
              <a:rPr lang="en-US" sz="950" dirty="0">
                <a:solidFill>
                  <a:srgbClr val="475569"/>
                </a:solidFill>
                <a:latin typeface="Calibri" pitchFamily="34" charset="0"/>
                <a:ea typeface="Calibri" pitchFamily="34" charset="-122"/>
                <a:cs typeface="Calibri" pitchFamily="34" charset="-120"/>
              </a:rPr>
              <a:t>Connect Power BI to live data sources so stakeholders see up-to-date airline activity without manual refreshes.</a:t>
            </a:r>
            <a:endParaRPr lang="en-US" sz="950" dirty="0"/>
          </a:p>
        </p:txBody>
      </p:sp>
      <p:sp>
        <p:nvSpPr>
          <p:cNvPr id="48" name="Shape 46"/>
          <p:cNvSpPr/>
          <p:nvPr/>
        </p:nvSpPr>
        <p:spPr>
          <a:xfrm>
            <a:off x="5422392" y="4572000"/>
            <a:ext cx="3291840" cy="36576"/>
          </a:xfrm>
          <a:prstGeom prst="rect">
            <a:avLst/>
          </a:prstGeom>
          <a:solidFill>
            <a:srgbClr val="CBD5E1"/>
          </a:solidFill>
          <a:ln w="12700">
            <a:solidFill>
              <a:srgbClr val="CBD5E1"/>
            </a:solidFill>
            <a:prstDash val="solid"/>
          </a:ln>
        </p:spPr>
      </p:sp>
      <p:sp>
        <p:nvSpPr>
          <p:cNvPr id="49" name="Text 47"/>
          <p:cNvSpPr/>
          <p:nvPr/>
        </p:nvSpPr>
        <p:spPr>
          <a:xfrm>
            <a:off x="5422392" y="4626864"/>
            <a:ext cx="3291840" cy="201168"/>
          </a:xfrm>
          <a:prstGeom prst="rect">
            <a:avLst/>
          </a:prstGeom>
          <a:noFill/>
          <a:ln/>
        </p:spPr>
        <p:txBody>
          <a:bodyPr wrap="square" lIns="0" tIns="0" rIns="0" bIns="0" rtlCol="0" anchor="ctr"/>
          <a:lstStyle/>
          <a:p>
            <a:pPr indent="0" marL="0">
              <a:buNone/>
            </a:pPr>
            <a:r>
              <a:rPr lang="en-US" sz="850" b="1" dirty="0">
                <a:solidFill>
                  <a:srgbClr val="40916C"/>
                </a:solidFill>
                <a:latin typeface="Calibri" pitchFamily="34" charset="0"/>
                <a:ea typeface="Calibri" pitchFamily="34" charset="-122"/>
                <a:cs typeface="Calibri" pitchFamily="34" charset="-120"/>
              </a:rPr>
              <a:t>For: BI &amp; Analytics Teams</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40916C"/>
          </a:solidFill>
          <a:ln w="12700">
            <a:solidFill>
              <a:srgbClr val="40916C"/>
            </a:solidFill>
            <a:prstDash val="solid"/>
          </a:ln>
        </p:spPr>
      </p:sp>
      <p:sp>
        <p:nvSpPr>
          <p:cNvPr id="3" name="Shape 1"/>
          <p:cNvSpPr/>
          <p:nvPr/>
        </p:nvSpPr>
        <p:spPr>
          <a:xfrm>
            <a:off x="5943600" y="91440"/>
            <a:ext cx="3200400" cy="5047488"/>
          </a:xfrm>
          <a:prstGeom prst="rect">
            <a:avLst/>
          </a:prstGeom>
          <a:solidFill>
            <a:srgbClr val="0D2B1F"/>
          </a:solidFill>
          <a:ln w="12700">
            <a:solidFill>
              <a:srgbClr val="0D2B1F"/>
            </a:solidFill>
            <a:prstDash val="solid"/>
          </a:ln>
        </p:spPr>
      </p:sp>
      <p:sp>
        <p:nvSpPr>
          <p:cNvPr id="4" name="Shape 2"/>
          <p:cNvSpPr/>
          <p:nvPr/>
        </p:nvSpPr>
        <p:spPr>
          <a:xfrm>
            <a:off x="5943600" y="91440"/>
            <a:ext cx="64008" cy="5047488"/>
          </a:xfrm>
          <a:prstGeom prst="rect">
            <a:avLst/>
          </a:prstGeom>
          <a:solidFill>
            <a:srgbClr val="D4A017"/>
          </a:solidFill>
          <a:ln w="12700">
            <a:solidFill>
              <a:srgbClr val="D4A017"/>
            </a:solidFill>
            <a:prstDash val="solid"/>
          </a:ln>
        </p:spPr>
      </p:sp>
      <p:sp>
        <p:nvSpPr>
          <p:cNvPr id="5" name="Shape 3"/>
          <p:cNvSpPr/>
          <p:nvPr/>
        </p:nvSpPr>
        <p:spPr>
          <a:xfrm>
            <a:off x="6858000" y="457200"/>
            <a:ext cx="1737360" cy="1737360"/>
          </a:xfrm>
          <a:prstGeom prst="ellipse">
            <a:avLst/>
          </a:prstGeom>
          <a:solidFill>
            <a:srgbClr val="0D3B1E"/>
          </a:solidFill>
          <a:ln w="25400">
            <a:solidFill>
              <a:srgbClr val="1A5C32"/>
            </a:solidFill>
            <a:prstDash val="solid"/>
          </a:ln>
        </p:spPr>
      </p:sp>
      <p:sp>
        <p:nvSpPr>
          <p:cNvPr id="6" name="Shape 4"/>
          <p:cNvSpPr/>
          <p:nvPr/>
        </p:nvSpPr>
        <p:spPr>
          <a:xfrm>
            <a:off x="6766560" y="2926080"/>
            <a:ext cx="1371600" cy="1371600"/>
          </a:xfrm>
          <a:prstGeom prst="ellipse">
            <a:avLst/>
          </a:prstGeom>
          <a:solidFill>
            <a:srgbClr val="40916C"/>
          </a:solidFill>
          <a:ln w="12700">
            <a:solidFill>
              <a:srgbClr val="40916C"/>
            </a:solidFill>
            <a:prstDash val="solid"/>
          </a:ln>
        </p:spPr>
      </p:sp>
      <p:sp>
        <p:nvSpPr>
          <p:cNvPr id="7" name="Shape 5"/>
          <p:cNvSpPr/>
          <p:nvPr/>
        </p:nvSpPr>
        <p:spPr>
          <a:xfrm>
            <a:off x="7772400" y="1645920"/>
            <a:ext cx="822960" cy="822960"/>
          </a:xfrm>
          <a:prstGeom prst="ellipse">
            <a:avLst/>
          </a:prstGeom>
          <a:solidFill>
            <a:srgbClr val="D4A017"/>
          </a:solidFill>
          <a:ln w="12700">
            <a:solidFill>
              <a:srgbClr val="D4A017"/>
            </a:solidFill>
            <a:prstDash val="solid"/>
          </a:ln>
        </p:spPr>
      </p:sp>
      <p:sp>
        <p:nvSpPr>
          <p:cNvPr id="8" name="Text 6"/>
          <p:cNvSpPr/>
          <p:nvPr/>
        </p:nvSpPr>
        <p:spPr>
          <a:xfrm>
            <a:off x="457200" y="320040"/>
            <a:ext cx="5212080" cy="347472"/>
          </a:xfrm>
          <a:prstGeom prst="rect">
            <a:avLst/>
          </a:prstGeom>
          <a:noFill/>
          <a:ln/>
        </p:spPr>
        <p:txBody>
          <a:bodyPr wrap="square" lIns="0" tIns="0" rIns="0" bIns="0" rtlCol="0" anchor="ctr"/>
          <a:lstStyle/>
          <a:p>
            <a:pPr indent="0" marL="0">
              <a:buNone/>
            </a:pPr>
            <a:r>
              <a:rPr lang="en-US" sz="1050" b="1" spc="300" kern="0" dirty="0">
                <a:solidFill>
                  <a:srgbClr val="D4A017"/>
                </a:solidFill>
                <a:latin typeface="Calibri" pitchFamily="34" charset="0"/>
                <a:ea typeface="Calibri" pitchFamily="34" charset="-122"/>
                <a:cs typeface="Calibri" pitchFamily="34" charset="-120"/>
              </a:rPr>
              <a:t>Project Summary</a:t>
            </a:r>
            <a:endParaRPr lang="en-US" sz="1050" dirty="0"/>
          </a:p>
        </p:txBody>
      </p:sp>
      <p:sp>
        <p:nvSpPr>
          <p:cNvPr id="9" name="Text 7"/>
          <p:cNvSpPr/>
          <p:nvPr/>
        </p:nvSpPr>
        <p:spPr>
          <a:xfrm>
            <a:off x="457200" y="685800"/>
            <a:ext cx="5212080" cy="64008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Conclusion</a:t>
            </a:r>
            <a:endParaRPr lang="en-US" sz="3800" dirty="0"/>
          </a:p>
        </p:txBody>
      </p:sp>
      <p:sp>
        <p:nvSpPr>
          <p:cNvPr id="10" name="Shape 8"/>
          <p:cNvSpPr/>
          <p:nvPr/>
        </p:nvSpPr>
        <p:spPr>
          <a:xfrm>
            <a:off x="457200" y="1371600"/>
            <a:ext cx="5029200" cy="36576"/>
          </a:xfrm>
          <a:prstGeom prst="rect">
            <a:avLst/>
          </a:prstGeom>
          <a:solidFill>
            <a:srgbClr val="1A5C32"/>
          </a:solidFill>
          <a:ln w="12700">
            <a:solidFill>
              <a:srgbClr val="1A5C32"/>
            </a:solidFill>
            <a:prstDash val="solid"/>
          </a:ln>
        </p:spPr>
      </p:sp>
      <p:sp>
        <p:nvSpPr>
          <p:cNvPr id="11" name="Text 9"/>
          <p:cNvSpPr/>
          <p:nvPr/>
        </p:nvSpPr>
        <p:spPr>
          <a:xfrm>
            <a:off x="457200" y="1444752"/>
            <a:ext cx="5212080" cy="32004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95D5B2"/>
                </a:solidFill>
                <a:latin typeface="Calibri" pitchFamily="34" charset="0"/>
                <a:ea typeface="Calibri" pitchFamily="34" charset="-122"/>
                <a:cs typeface="Calibri" pitchFamily="34" charset="-120"/>
              </a:rPr>
              <a:t>Built an end-to-end ML pipeline from raw data to predictions</a:t>
            </a:r>
            <a:endParaRPr lang="en-US" sz="1250" dirty="0"/>
          </a:p>
          <a:p>
            <a:pPr marL="342900" indent="-342900">
              <a:spcAft>
                <a:spcPts val="600"/>
              </a:spcAft>
              <a:buSzPct val="100000"/>
              <a:buChar char="•"/>
            </a:pPr>
            <a:r>
              <a:rPr lang="en-US" sz="1250" dirty="0">
                <a:solidFill>
                  <a:srgbClr val="95D5B2"/>
                </a:solidFill>
                <a:latin typeface="Calibri" pitchFamily="34" charset="0"/>
                <a:ea typeface="Calibri" pitchFamily="34" charset="-122"/>
                <a:cs typeface="Calibri" pitchFamily="34" charset="-120"/>
              </a:rPr>
              <a:t>Merged 3 datasets → engineered 15 features from routes, identifiers, and country context</a:t>
            </a:r>
            <a:endParaRPr lang="en-US" sz="1250" dirty="0"/>
          </a:p>
          <a:p>
            <a:pPr marL="342900" indent="-342900">
              <a:spcAft>
                <a:spcPts val="600"/>
              </a:spcAft>
              <a:buSzPct val="100000"/>
              <a:buChar char="•"/>
            </a:pPr>
            <a:r>
              <a:rPr lang="en-US" sz="1250" dirty="0">
                <a:solidFill>
                  <a:srgbClr val="95D5B2"/>
                </a:solidFill>
                <a:latin typeface="Calibri" pitchFamily="34" charset="0"/>
                <a:ea typeface="Calibri" pitchFamily="34" charset="-122"/>
                <a:cs typeface="Calibri" pitchFamily="34" charset="-120"/>
              </a:rPr>
              <a:t>Ensemble model achieved ROC-AUC of 0.92 and 87.6% accuracy</a:t>
            </a:r>
            <a:endParaRPr lang="en-US" sz="1250" dirty="0"/>
          </a:p>
          <a:p>
            <a:pPr marL="342900" indent="-342900">
              <a:spcAft>
                <a:spcPts val="600"/>
              </a:spcAft>
              <a:buSzPct val="100000"/>
              <a:buChar char="•"/>
            </a:pPr>
            <a:r>
              <a:rPr lang="en-US" sz="1250" dirty="0">
                <a:solidFill>
                  <a:srgbClr val="95D5B2"/>
                </a:solidFill>
                <a:latin typeface="Calibri" pitchFamily="34" charset="0"/>
                <a:ea typeface="Calibri" pitchFamily="34" charset="-122"/>
                <a:cs typeface="Calibri" pitchFamily="34" charset="-120"/>
              </a:rPr>
              <a:t>Used SHAP for full model explainability and bias analysis for fairness</a:t>
            </a:r>
            <a:endParaRPr lang="en-US" sz="1250" dirty="0"/>
          </a:p>
          <a:p>
            <a:pPr marL="342900" indent="-342900">
              <a:spcAft>
                <a:spcPts val="600"/>
              </a:spcAft>
              <a:buSzPct val="100000"/>
              <a:buChar char="•"/>
            </a:pPr>
            <a:r>
              <a:rPr lang="en-US" sz="1250" dirty="0">
                <a:solidFill>
                  <a:srgbClr val="95D5B2"/>
                </a:solidFill>
                <a:latin typeface="Calibri" pitchFamily="34" charset="0"/>
                <a:ea typeface="Calibri" pitchFamily="34" charset="-122"/>
                <a:cs typeface="Calibri" pitchFamily="34" charset="-120"/>
              </a:rPr>
              <a:t>Power BI dashboard makes insights accessible to all stakeholders</a:t>
            </a:r>
            <a:endParaRPr lang="en-US" sz="1250" dirty="0"/>
          </a:p>
          <a:p>
            <a:pPr marL="342900" indent="-342900">
              <a:spcAft>
                <a:spcPts val="600"/>
              </a:spcAft>
              <a:buSzPct val="100000"/>
              <a:buChar char="•"/>
            </a:pPr>
            <a:r>
              <a:rPr lang="en-US" sz="1250" dirty="0">
                <a:solidFill>
                  <a:srgbClr val="95D5B2"/>
                </a:solidFill>
                <a:latin typeface="Calibri" pitchFamily="34" charset="0"/>
                <a:ea typeface="Calibri" pitchFamily="34" charset="-122"/>
                <a:cs typeface="Calibri" pitchFamily="34" charset="-120"/>
              </a:rPr>
              <a:t>Model packaged with a scoring script ready for real-world deployment</a:t>
            </a:r>
            <a:endParaRPr lang="en-US" sz="1250" dirty="0"/>
          </a:p>
        </p:txBody>
      </p:sp>
      <p:sp>
        <p:nvSpPr>
          <p:cNvPr id="12" name="Shape 10"/>
          <p:cNvSpPr/>
          <p:nvPr/>
        </p:nvSpPr>
        <p:spPr>
          <a:xfrm>
            <a:off x="0" y="4983480"/>
            <a:ext cx="9144000" cy="160020"/>
          </a:xfrm>
          <a:prstGeom prst="rect">
            <a:avLst/>
          </a:prstGeom>
          <a:solidFill>
            <a:srgbClr val="071A0F"/>
          </a:solidFill>
          <a:ln w="12700">
            <a:solidFill>
              <a:srgbClr val="071A0F"/>
            </a:solidFill>
            <a:prstDash val="solid"/>
          </a:ln>
        </p:spPr>
      </p:sp>
      <p:sp>
        <p:nvSpPr>
          <p:cNvPr id="13" name="Text 11"/>
          <p:cNvSpPr/>
          <p:nvPr/>
        </p:nvSpPr>
        <p:spPr>
          <a:xfrm>
            <a:off x="274320" y="4983480"/>
            <a:ext cx="8595360" cy="160020"/>
          </a:xfrm>
          <a:prstGeom prst="rect">
            <a:avLst/>
          </a:prstGeom>
          <a:noFill/>
          <a:ln/>
        </p:spPr>
        <p:txBody>
          <a:bodyPr wrap="square" lIns="0" tIns="0" rIns="0" bIns="0" rtlCol="0" anchor="ctr"/>
          <a:lstStyle/>
          <a:p>
            <a:pPr algn="ctr" indent="0" marL="0">
              <a:buNone/>
            </a:pPr>
            <a:r>
              <a:rPr lang="en-US" sz="900" b="1" dirty="0">
                <a:solidFill>
                  <a:srgbClr val="D4A017"/>
                </a:solidFill>
                <a:latin typeface="Calibri" pitchFamily="34" charset="0"/>
                <a:ea typeface="Calibri" pitchFamily="34" charset="-122"/>
                <a:cs typeface="Calibri" pitchFamily="34" charset="-120"/>
              </a:rPr>
              <a:t>Thank you — Questions welcome!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Airline Activity Prediction – DSAI 4103</dc:title>
  <dc:subject>PptxGenJS Presentation</dc:subject>
  <dc:creator>Mhmd</dc:creator>
  <cp:lastModifiedBy>Mhmd</cp:lastModifiedBy>
  <cp:revision>1</cp:revision>
  <dcterms:created xsi:type="dcterms:W3CDTF">2026-04-03T20:30:31Z</dcterms:created>
  <dcterms:modified xsi:type="dcterms:W3CDTF">2026-04-03T20:30:31Z</dcterms:modified>
</cp:coreProperties>
</file>